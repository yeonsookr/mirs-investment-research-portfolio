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theme/themeOverride3.xml" ContentType="application/vnd.openxmlformats-officedocument.themeOverride+xml"/>
  <Override PartName="/ppt/charts/chart7.xml" ContentType="application/vnd.openxmlformats-officedocument.drawingml.chart+xml"/>
  <Override PartName="/ppt/theme/themeOverride4.xml" ContentType="application/vnd.openxmlformats-officedocument.themeOverride+xml"/>
  <Override PartName="/ppt/charts/chart8.xml" ContentType="application/vnd.openxmlformats-officedocument.drawingml.chart+xml"/>
  <Override PartName="/ppt/theme/themeOverride5.xml" ContentType="application/vnd.openxmlformats-officedocument.themeOverride+xml"/>
  <Override PartName="/ppt/drawings/drawing2.xml" ContentType="application/vnd.openxmlformats-officedocument.drawingml.chartshapes+xml"/>
  <Override PartName="/ppt/charts/chart9.xml" ContentType="application/vnd.openxmlformats-officedocument.drawingml.chart+xml"/>
  <Override PartName="/ppt/theme/themeOverride6.xml" ContentType="application/vnd.openxmlformats-officedocument.themeOverride+xml"/>
  <Override PartName="/ppt/charts/chart10.xml" ContentType="application/vnd.openxmlformats-officedocument.drawingml.chart+xml"/>
  <Override PartName="/ppt/theme/themeOverride7.xml" ContentType="application/vnd.openxmlformats-officedocument.themeOverride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  <Override PartName="/ppt/charts/colors2.xml" ContentType="application/vnd.ms-office.chartcolorstyle+xml"/>
  <Override PartName="/ppt/charts/style2.xml" ContentType="application/vnd.ms-office.chartstyle+xml"/>
  <Override PartName="/ppt/charts/colors3.xml" ContentType="application/vnd.ms-office.chartcolorstyle+xml"/>
  <Override PartName="/ppt/charts/style3.xml" ContentType="application/vnd.ms-office.chartstyle+xml"/>
  <Override PartName="/ppt/charts/colors4.xml" ContentType="application/vnd.ms-office.chartcolorstyle+xml"/>
  <Override PartName="/ppt/charts/style4.xml" ContentType="application/vnd.ms-office.chartstyle+xml"/>
  <Override PartName="/ppt/charts/colors5.xml" ContentType="application/vnd.ms-office.chartcolorstyle+xml"/>
  <Override PartName="/ppt/charts/style5.xml" ContentType="application/vnd.ms-office.chartstyle+xml"/>
  <Override PartName="/ppt/charts/colors6.xml" ContentType="application/vnd.ms-office.chartcolorstyle+xml"/>
  <Override PartName="/ppt/charts/style6.xml" ContentType="application/vnd.ms-office.chartstyle+xml"/>
  <Override PartName="/ppt/charts/colors7.xml" ContentType="application/vnd.ms-office.chartcolorstyle+xml"/>
  <Override PartName="/ppt/charts/style7.xml" ContentType="application/vnd.ms-office.chartstyle+xml"/>
  <Override PartName="/ppt/charts/colors8.xml" ContentType="application/vnd.ms-office.chartcolorstyle+xml"/>
  <Override PartName="/ppt/charts/style8.xml" ContentType="application/vnd.ms-office.chartstyle+xml"/>
  <Override PartName="/ppt/charts/colors9.xml" ContentType="application/vnd.ms-office.chartcolorstyle+xml"/>
  <Override PartName="/ppt/charts/style9.xml" ContentType="application/vnd.ms-office.chartstyle+xml"/>
  <Override PartName="/ppt/charts/colors10.xml" ContentType="application/vnd.ms-office.chartcolorstyle+xml"/>
  <Override PartName="/ppt/charts/style10.xml" ContentType="application/vnd.ms-office.chartstyle+xml"/>
  <Override PartName="/ppt/charts/colors11.xml" ContentType="application/vnd.ms-office.chartcolorstyle+xml"/>
  <Override PartName="/ppt/charts/style1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  <p:sldId id="273" r:id="rId8"/>
    <p:sldId id="266" r:id="rId9"/>
    <p:sldId id="275" r:id="rId10"/>
    <p:sldId id="260" r:id="rId11"/>
    <p:sldId id="274" r:id="rId12"/>
    <p:sldId id="268" r:id="rId13"/>
    <p:sldId id="269" r:id="rId14"/>
    <p:sldId id="261" r:id="rId15"/>
    <p:sldId id="262" r:id="rId16"/>
    <p:sldId id="270" r:id="rId17"/>
    <p:sldId id="263" r:id="rId18"/>
    <p:sldId id="276" r:id="rId19"/>
    <p:sldId id="26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485"/>
    <a:srgbClr val="FFFFFF"/>
    <a:srgbClr val="F9C7BD"/>
    <a:srgbClr val="3D998A"/>
    <a:srgbClr val="259B98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8" autoAdjust="0"/>
    <p:restoredTop sz="94660"/>
  </p:normalViewPr>
  <p:slideViewPr>
    <p:cSldViewPr snapToGrid="0">
      <p:cViewPr varScale="1">
        <p:scale>
          <a:sx n="41" d="100"/>
          <a:sy n="41" d="100"/>
        </p:scale>
        <p:origin x="-88" y="-2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3.xlsx"/><Relationship Id="rId4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1.xml"/><Relationship Id="rId4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2.xml"/><Relationship Id="rId4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3.xml"/><Relationship Id="rId4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openxmlformats.org/officeDocument/2006/relationships/package" Target="../embeddings/Microsoft_Excel_Worksheet7.xlsx"/><Relationship Id="rId1" Type="http://schemas.openxmlformats.org/officeDocument/2006/relationships/themeOverride" Target="../theme/themeOverride4.xml"/><Relationship Id="rId4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2.xml"/><Relationship Id="rId2" Type="http://schemas.openxmlformats.org/officeDocument/2006/relationships/oleObject" Target="file:///C:\Users\s1261\Documents\&#52852;&#52852;&#50724;&#53665;%20&#48155;&#51008;%20&#54028;&#51068;\&#48512;&#52292;&#48708;&#50984;%20&#48143;%20&#49457;&#51109;&#49457;%202021.05.16.5&#49884;5&#48516;.xlsx" TargetMode="External"/><Relationship Id="rId1" Type="http://schemas.openxmlformats.org/officeDocument/2006/relationships/themeOverride" Target="../theme/themeOverride5.xml"/><Relationship Id="rId5" Type="http://schemas.microsoft.com/office/2011/relationships/chartStyle" Target="style8.xml"/><Relationship Id="rId4" Type="http://schemas.microsoft.com/office/2011/relationships/chartColorStyle" Target="colors8.xm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6.xml"/><Relationship Id="rId4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7.xml"/><Relationship Id="rId4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Style" Target="style11.xml"/><Relationship Id="rId2" Type="http://schemas.microsoft.com/office/2011/relationships/chartColorStyle" Target="colors11.xml"/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ko-KR"/>
              <a:t>국내 로보어드바이저 시장 규모 전망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국내 로보어드바이저 시장 규모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6</c:v>
                </c:pt>
                <c:pt idx="6">
                  <c:v>10</c:v>
                </c:pt>
                <c:pt idx="7">
                  <c:v>19</c:v>
                </c:pt>
                <c:pt idx="8">
                  <c:v>31</c:v>
                </c:pt>
                <c:pt idx="9">
                  <c:v>46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170-4392-AD45-5A8B59381CF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30367872"/>
        <c:axId val="130370560"/>
      </c:barChart>
      <c:catAx>
        <c:axId val="130367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0370560"/>
        <c:crosses val="autoZero"/>
        <c:auto val="1"/>
        <c:lblAlgn val="ctr"/>
        <c:lblOffset val="100"/>
        <c:noMultiLvlLbl val="0"/>
      </c:catAx>
      <c:valAx>
        <c:axId val="1303705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0367872"/>
        <c:crosses val="autoZero"/>
        <c:crossBetween val="between"/>
        <c:majorUnit val="10"/>
        <c:minorUnit val="10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ko-KR"/>
              <a:t>계좌이체 연도별 증감률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8AC8-431C-8608-B33B4B57CB8D}"/>
              </c:ext>
            </c:extLst>
          </c:dPt>
          <c:dLbls>
            <c:dLbl>
              <c:idx val="3"/>
              <c:layout/>
              <c:tx>
                <c:rich>
                  <a:bodyPr/>
                  <a:lstStyle/>
                  <a:p>
                    <a:fld id="{ACA9DF9F-D96D-4797-B53B-CF07CBA69C91}" type="VALUE">
                      <a:rPr lang="en-US" altLang="ko-KR">
                        <a:solidFill>
                          <a:srgbClr val="FF0000"/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AC8-431C-8608-B33B4B57CB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17년</c:v>
                </c:pt>
                <c:pt idx="1">
                  <c:v>18년</c:v>
                </c:pt>
                <c:pt idx="2">
                  <c:v>19년</c:v>
                </c:pt>
                <c:pt idx="3">
                  <c:v>20년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8.9</c:v>
                </c:pt>
                <c:pt idx="2">
                  <c:v>5.0999999999999996</c:v>
                </c:pt>
                <c:pt idx="3">
                  <c:v>17.8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8AC8-431C-8608-B33B4B57CB8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30420736"/>
        <c:axId val="130423424"/>
      </c:barChart>
      <c:catAx>
        <c:axId val="130420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0423424"/>
        <c:crosses val="autoZero"/>
        <c:auto val="1"/>
        <c:lblAlgn val="ctr"/>
        <c:lblOffset val="100"/>
        <c:noMultiLvlLbl val="0"/>
      </c:catAx>
      <c:valAx>
        <c:axId val="1304234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0420736"/>
        <c:crosses val="autoZero"/>
        <c:crossBetween val="between"/>
        <c:majorUnit val="4"/>
        <c:minorUnit val="4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/>
              <a:t>CD, ATM </a:t>
            </a:r>
            <a:r>
              <a:rPr lang="ko-KR"/>
              <a:t>현금인출 연도별 증감률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8511-44F7-9B5C-20B729ABD7AB}"/>
              </c:ext>
            </c:extLst>
          </c:dPt>
          <c:dLbls>
            <c:dLbl>
              <c:idx val="3"/>
              <c:layout/>
              <c:tx>
                <c:rich>
                  <a:bodyPr/>
                  <a:lstStyle/>
                  <a:p>
                    <a:fld id="{F793184D-B676-4F10-BB51-307F1D75BAB1}" type="VALUE">
                      <a:rPr lang="en-US" altLang="ko-KR">
                        <a:solidFill>
                          <a:srgbClr val="FF0000"/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511-44F7-9B5C-20B729ABD7A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17년</c:v>
                </c:pt>
                <c:pt idx="1">
                  <c:v>18년</c:v>
                </c:pt>
                <c:pt idx="2">
                  <c:v>19년</c:v>
                </c:pt>
                <c:pt idx="3">
                  <c:v>20년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-2.2999999999999998</c:v>
                </c:pt>
                <c:pt idx="1">
                  <c:v>0.7</c:v>
                </c:pt>
                <c:pt idx="2">
                  <c:v>-3</c:v>
                </c:pt>
                <c:pt idx="3">
                  <c:v>-13.4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8511-44F7-9B5C-20B729ABD7A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30452864"/>
        <c:axId val="130496768"/>
      </c:barChart>
      <c:catAx>
        <c:axId val="13045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0496768"/>
        <c:crosses val="autoZero"/>
        <c:auto val="1"/>
        <c:lblAlgn val="ctr"/>
        <c:lblOffset val="100"/>
        <c:noMultiLvlLbl val="0"/>
      </c:catAx>
      <c:valAx>
        <c:axId val="130496768"/>
        <c:scaling>
          <c:orientation val="minMax"/>
          <c:max val="10"/>
          <c:min val="-20"/>
        </c:scaling>
        <c:delete val="1"/>
        <c:axPos val="l"/>
        <c:numFmt formatCode="General" sourceLinked="1"/>
        <c:majorTickMark val="none"/>
        <c:minorTickMark val="none"/>
        <c:tickLblPos val="nextTo"/>
        <c:crossAx val="130452864"/>
        <c:crosses val="autoZero"/>
        <c:crossBetween val="between"/>
        <c:majorUnit val="10"/>
        <c:minorUnit val="10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국내은행 점포수 추이</a:t>
            </a:r>
            <a:r>
              <a:rPr lang="en-US" altLang="ko-KR"/>
              <a:t>(</a:t>
            </a:r>
            <a:r>
              <a:rPr lang="ko-KR" altLang="en-US"/>
              <a:t>상세</a:t>
            </a:r>
            <a:r>
              <a:rPr lang="en-US" altLang="ko-KR"/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신설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(시중)신한</c:v>
                </c:pt>
                <c:pt idx="1">
                  <c:v>(시중)우리</c:v>
                </c:pt>
                <c:pt idx="2">
                  <c:v>(시중)SC</c:v>
                </c:pt>
                <c:pt idx="3">
                  <c:v>(시중)하나</c:v>
                </c:pt>
                <c:pt idx="4">
                  <c:v>(시중)씨티</c:v>
                </c:pt>
                <c:pt idx="5">
                  <c:v>(시중)국민</c:v>
                </c:pt>
                <c:pt idx="6">
                  <c:v>(지방)대구</c:v>
                </c:pt>
                <c:pt idx="7">
                  <c:v>(지방)부산</c:v>
                </c:pt>
                <c:pt idx="8">
                  <c:v>(지방)광주</c:v>
                </c:pt>
                <c:pt idx="9">
                  <c:v>(지방)제주</c:v>
                </c:pt>
                <c:pt idx="10">
                  <c:v>(지방)전북</c:v>
                </c:pt>
                <c:pt idx="11">
                  <c:v>(지방)경남</c:v>
                </c:pt>
                <c:pt idx="12">
                  <c:v>(특수)산업</c:v>
                </c:pt>
                <c:pt idx="13">
                  <c:v>(특수)기업</c:v>
                </c:pt>
                <c:pt idx="14">
                  <c:v>(특수)수출입</c:v>
                </c:pt>
                <c:pt idx="15">
                  <c:v>(특수)농협</c:v>
                </c:pt>
                <c:pt idx="16">
                  <c:v>(특수)수협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4</c:v>
                </c:pt>
                <c:pt idx="1">
                  <c:v>5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4</c:v>
                </c:pt>
                <c:pt idx="6">
                  <c:v>2</c:v>
                </c:pt>
                <c:pt idx="7">
                  <c:v>3</c:v>
                </c:pt>
                <c:pt idx="8">
                  <c:v>3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6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9F8-4EBF-AD1C-07DB01CF40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폐쇄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(시중)신한</c:v>
                </c:pt>
                <c:pt idx="1">
                  <c:v>(시중)우리</c:v>
                </c:pt>
                <c:pt idx="2">
                  <c:v>(시중)SC</c:v>
                </c:pt>
                <c:pt idx="3">
                  <c:v>(시중)하나</c:v>
                </c:pt>
                <c:pt idx="4">
                  <c:v>(시중)씨티</c:v>
                </c:pt>
                <c:pt idx="5">
                  <c:v>(시중)국민</c:v>
                </c:pt>
                <c:pt idx="6">
                  <c:v>(지방)대구</c:v>
                </c:pt>
                <c:pt idx="7">
                  <c:v>(지방)부산</c:v>
                </c:pt>
                <c:pt idx="8">
                  <c:v>(지방)광주</c:v>
                </c:pt>
                <c:pt idx="9">
                  <c:v>(지방)제주</c:v>
                </c:pt>
                <c:pt idx="10">
                  <c:v>(지방)전북</c:v>
                </c:pt>
                <c:pt idx="11">
                  <c:v>(지방)경남</c:v>
                </c:pt>
                <c:pt idx="12">
                  <c:v>(특수)산업</c:v>
                </c:pt>
                <c:pt idx="13">
                  <c:v>(특수)기업</c:v>
                </c:pt>
                <c:pt idx="14">
                  <c:v>(특수)수출입</c:v>
                </c:pt>
                <c:pt idx="15">
                  <c:v>(특수)농협</c:v>
                </c:pt>
                <c:pt idx="16">
                  <c:v>(특수)수협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21</c:v>
                </c:pt>
                <c:pt idx="1">
                  <c:v>58</c:v>
                </c:pt>
                <c:pt idx="2">
                  <c:v>16</c:v>
                </c:pt>
                <c:pt idx="3">
                  <c:v>74</c:v>
                </c:pt>
                <c:pt idx="4">
                  <c:v>0</c:v>
                </c:pt>
                <c:pt idx="5">
                  <c:v>83</c:v>
                </c:pt>
                <c:pt idx="6">
                  <c:v>11</c:v>
                </c:pt>
                <c:pt idx="7">
                  <c:v>22</c:v>
                </c:pt>
                <c:pt idx="8">
                  <c:v>2</c:v>
                </c:pt>
                <c:pt idx="9">
                  <c:v>2</c:v>
                </c:pt>
                <c:pt idx="10">
                  <c:v>3</c:v>
                </c:pt>
                <c:pt idx="11">
                  <c:v>14</c:v>
                </c:pt>
                <c:pt idx="12">
                  <c:v>5</c:v>
                </c:pt>
                <c:pt idx="13">
                  <c:v>6</c:v>
                </c:pt>
                <c:pt idx="14">
                  <c:v>0</c:v>
                </c:pt>
                <c:pt idx="15">
                  <c:v>14</c:v>
                </c:pt>
                <c:pt idx="16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9F8-4EBF-AD1C-07DB01CF40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1049344"/>
        <c:axId val="131050880"/>
      </c:barChart>
      <c:catAx>
        <c:axId val="1310493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1050880"/>
        <c:crosses val="autoZero"/>
        <c:auto val="1"/>
        <c:lblAlgn val="ctr"/>
        <c:lblOffset val="100"/>
        <c:noMultiLvlLbl val="0"/>
      </c:catAx>
      <c:valAx>
        <c:axId val="131050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1049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17833935018050542"/>
          <c:y val="3.23624595469255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국내은행의 점포 감소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312</c:v>
                </c:pt>
                <c:pt idx="2">
                  <c:v>23</c:v>
                </c:pt>
                <c:pt idx="3">
                  <c:v>57</c:v>
                </c:pt>
                <c:pt idx="4">
                  <c:v>304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9335-4576-84C7-E4AD381F28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637312"/>
        <c:axId val="160638848"/>
      </c:lineChart>
      <c:catAx>
        <c:axId val="160637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0638848"/>
        <c:crosses val="autoZero"/>
        <c:auto val="1"/>
        <c:lblAlgn val="ctr"/>
        <c:lblOffset val="100"/>
        <c:noMultiLvlLbl val="0"/>
      </c:catAx>
      <c:valAx>
        <c:axId val="160638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0637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고객 수</a:t>
            </a:r>
            <a:r>
              <a:rPr lang="en-US" altLang="ko-KR" sz="800"/>
              <a:t/>
            </a:r>
            <a:br>
              <a:rPr lang="en-US" altLang="ko-KR" sz="800"/>
            </a:br>
            <a:r>
              <a:rPr lang="en-US" altLang="ko-KR" sz="800"/>
              <a:t>(</a:t>
            </a:r>
            <a:r>
              <a:rPr lang="ko-KR" altLang="en-US" sz="800"/>
              <a:t>모바일뱅킹 포함</a:t>
            </a:r>
            <a:r>
              <a:rPr lang="en-US" altLang="ko-KR" sz="800"/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7099239177381309"/>
          <c:y val="0.22548562548562548"/>
          <c:w val="0.78259410611648228"/>
          <c:h val="0.5847307111086638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12659</c:v>
                </c:pt>
                <c:pt idx="1">
                  <c:v>13738</c:v>
                </c:pt>
                <c:pt idx="2">
                  <c:v>14922</c:v>
                </c:pt>
                <c:pt idx="3">
                  <c:v>15937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217-464C-80E9-5A67FA6FB9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법인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845</c:v>
                </c:pt>
                <c:pt idx="1">
                  <c:v>918</c:v>
                </c:pt>
                <c:pt idx="2">
                  <c:v>1001</c:v>
                </c:pt>
                <c:pt idx="3">
                  <c:v>1100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E217-464C-80E9-5A67FA6FB9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6187008"/>
        <c:axId val="166188544"/>
      </c:barChart>
      <c:catAx>
        <c:axId val="166187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6188544"/>
        <c:crosses val="autoZero"/>
        <c:auto val="1"/>
        <c:lblAlgn val="ctr"/>
        <c:lblOffset val="100"/>
        <c:noMultiLvlLbl val="0"/>
      </c:catAx>
      <c:valAx>
        <c:axId val="16618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6187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이용건수</a:t>
            </a:r>
            <a:r>
              <a:rPr lang="en-US" altLang="ko-KR" baseline="0"/>
              <a:t> </a:t>
            </a:r>
            <a:r>
              <a:rPr lang="ko-KR" altLang="en-US" baseline="0"/>
              <a:t>및 이용실적</a:t>
            </a:r>
            <a:r>
              <a:rPr lang="en-US" altLang="ko-KR" baseline="0"/>
              <a:t/>
            </a:r>
            <a:br>
              <a:rPr lang="en-US" altLang="ko-KR" baseline="0"/>
            </a:br>
            <a:r>
              <a:rPr lang="en-US" altLang="ko-KR" sz="800" baseline="0"/>
              <a:t>(</a:t>
            </a:r>
            <a:r>
              <a:rPr lang="ko-KR" altLang="en-US" sz="800" baseline="0"/>
              <a:t>모바일 뱅킹 포함</a:t>
            </a:r>
            <a:r>
              <a:rPr lang="en-US" altLang="ko-KR" sz="800" baseline="0"/>
              <a:t>)</a:t>
            </a:r>
            <a:endParaRPr lang="en-US" altLang="ko-KR" sz="800"/>
          </a:p>
        </c:rich>
      </c:tx>
      <c:layout>
        <c:manualLayout>
          <c:xMode val="edge"/>
          <c:yMode val="edge"/>
          <c:x val="0.28389088731318363"/>
          <c:y val="2.965949671687470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이용건수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835</c:v>
                </c:pt>
                <c:pt idx="1">
                  <c:v>1024</c:v>
                </c:pt>
                <c:pt idx="2">
                  <c:v>1191</c:v>
                </c:pt>
                <c:pt idx="3">
                  <c:v>1333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6EA-44AF-BFBA-20307FA390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6EA-44AF-BFBA-20307FA39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98282240"/>
        <c:axId val="19828812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이용금액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431117</c:v>
                </c:pt>
                <c:pt idx="1">
                  <c:v>474882</c:v>
                </c:pt>
                <c:pt idx="2">
                  <c:v>486455</c:v>
                </c:pt>
                <c:pt idx="3">
                  <c:v>586579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86EA-44AF-BFBA-20307FA39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299648"/>
        <c:axId val="198289664"/>
      </c:lineChart>
      <c:catAx>
        <c:axId val="198282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8288128"/>
        <c:crosses val="autoZero"/>
        <c:auto val="1"/>
        <c:lblAlgn val="ctr"/>
        <c:lblOffset val="100"/>
        <c:noMultiLvlLbl val="0"/>
      </c:catAx>
      <c:valAx>
        <c:axId val="198288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8282240"/>
        <c:crosses val="autoZero"/>
        <c:crossBetween val="between"/>
      </c:valAx>
      <c:valAx>
        <c:axId val="19828966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8299648"/>
        <c:crosses val="max"/>
        <c:crossBetween val="between"/>
      </c:valAx>
      <c:catAx>
        <c:axId val="1982996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82896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하나금융지주 성장성</a:t>
            </a:r>
            <a:endParaRPr lang="en-US" altLang="ko-KR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Sheet1!$A$26</c:f>
              <c:strCache>
                <c:ptCount val="1"/>
                <c:pt idx="0">
                  <c:v>영업이익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Sheet1!$B$25:$D$25</c:f>
              <c:numCache>
                <c:formatCode>General</c:formatCode>
                <c:ptCount val="3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</c:numCache>
            </c:numRef>
          </c:cat>
          <c:val>
            <c:numRef>
              <c:f>Sheet1!$B$26:$D$26</c:f>
              <c:numCache>
                <c:formatCode>#,##0</c:formatCode>
                <c:ptCount val="3"/>
                <c:pt idx="0">
                  <c:v>3152180</c:v>
                </c:pt>
                <c:pt idx="1">
                  <c:v>3258680</c:v>
                </c:pt>
                <c:pt idx="2">
                  <c:v>3836422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1B3E-4E39-8FE0-C0F750A6F01F}"/>
            </c:ext>
          </c:extLst>
        </c:ser>
        <c:ser>
          <c:idx val="1"/>
          <c:order val="1"/>
          <c:tx>
            <c:strRef>
              <c:f>Sheet1!$A$27</c:f>
              <c:strCache>
                <c:ptCount val="1"/>
                <c:pt idx="0">
                  <c:v>당기순이익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Sheet1!$B$25:$D$25</c:f>
              <c:numCache>
                <c:formatCode>General</c:formatCode>
                <c:ptCount val="3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</c:numCache>
            </c:numRef>
          </c:cat>
          <c:val>
            <c:numRef>
              <c:f>Sheet1!$B$27:$D$27</c:f>
              <c:numCache>
                <c:formatCode>#,##0</c:formatCode>
                <c:ptCount val="3"/>
                <c:pt idx="0">
                  <c:v>2275152</c:v>
                </c:pt>
                <c:pt idx="1">
                  <c:v>2425622</c:v>
                </c:pt>
                <c:pt idx="2">
                  <c:v>2684878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1B3E-4E39-8FE0-C0F750A6F0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456256"/>
        <c:axId val="133457792"/>
      </c:lineChart>
      <c:catAx>
        <c:axId val="133456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3457792"/>
        <c:crosses val="autoZero"/>
        <c:auto val="1"/>
        <c:lblAlgn val="ctr"/>
        <c:lblOffset val="100"/>
        <c:noMultiLvlLbl val="0"/>
      </c:catAx>
      <c:valAx>
        <c:axId val="133457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3456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2">
    <c:autoUpdate val="0"/>
  </c:externalData>
  <c:userShapes r:id="rId3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하나금융지주 종속회사 당기순이익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A1D6-411A-8DB8-75EB048A728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A1D6-411A-8DB8-75EB048A728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1D6-411A-8DB8-75EB048A728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A1D6-411A-8DB8-75EB048A728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A1D6-411A-8DB8-75EB048A728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A1D6-411A-8DB8-75EB048A728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A1D6-411A-8DB8-75EB048A7289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A1D6-411A-8DB8-75EB048A7289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A1D6-411A-8DB8-75EB048A7289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3-A1D6-411A-8DB8-75EB048A7289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5-A1D6-411A-8DB8-75EB048A7289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7-A1D6-411A-8DB8-75EB048A72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Sheet1!$A$2:$A$13</c:f>
              <c:strCache>
                <c:ptCount val="12"/>
                <c:pt idx="0">
                  <c:v>하나은행</c:v>
                </c:pt>
                <c:pt idx="1">
                  <c:v>하나금융투자</c:v>
                </c:pt>
                <c:pt idx="2">
                  <c:v>하나카드</c:v>
                </c:pt>
                <c:pt idx="3">
                  <c:v>하나캐피탈</c:v>
                </c:pt>
                <c:pt idx="4">
                  <c:v>하나자산신탁</c:v>
                </c:pt>
                <c:pt idx="5">
                  <c:v>하나대체투자 자산운용</c:v>
                </c:pt>
                <c:pt idx="6">
                  <c:v>하나생명보험</c:v>
                </c:pt>
                <c:pt idx="7">
                  <c:v>하나저축은행</c:v>
                </c:pt>
                <c:pt idx="8">
                  <c:v>하나금융티아이</c:v>
                </c:pt>
                <c:pt idx="9">
                  <c:v>하나벤쳐스</c:v>
                </c:pt>
                <c:pt idx="10">
                  <c:v>하나에프앤아이</c:v>
                </c:pt>
                <c:pt idx="11">
                  <c:v>하나손해보험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 formatCode="#,##0.00">
                  <c:v>1866.6</c:v>
                </c:pt>
                <c:pt idx="1">
                  <c:v>402.6</c:v>
                </c:pt>
                <c:pt idx="2">
                  <c:v>154.5</c:v>
                </c:pt>
                <c:pt idx="3">
                  <c:v>173.1</c:v>
                </c:pt>
                <c:pt idx="4">
                  <c:v>80.8</c:v>
                </c:pt>
                <c:pt idx="5">
                  <c:v>18.600000000000001</c:v>
                </c:pt>
                <c:pt idx="6">
                  <c:v>35.200000000000003</c:v>
                </c:pt>
                <c:pt idx="7">
                  <c:v>18</c:v>
                </c:pt>
                <c:pt idx="8">
                  <c:v>0.2</c:v>
                </c:pt>
                <c:pt idx="9">
                  <c:v>2.9</c:v>
                </c:pt>
                <c:pt idx="10">
                  <c:v>15.6</c:v>
                </c:pt>
                <c:pt idx="11">
                  <c:v>5.2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8-A1D6-411A-8DB8-75EB048A728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1800"/>
              <a:t>4</a:t>
            </a:r>
            <a:r>
              <a:rPr lang="ko-KR" sz="1800"/>
              <a:t>대 금융그룹 보통주자본비율 현황</a:t>
            </a:r>
          </a:p>
        </c:rich>
      </c:tx>
      <c:layout>
        <c:manualLayout>
          <c:xMode val="edge"/>
          <c:yMode val="edge"/>
          <c:x val="0.15379933830110318"/>
          <c:y val="3.2183908045977011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2661638736282746"/>
          <c:y val="0.2512652407810726"/>
          <c:w val="0.82264851473005129"/>
          <c:h val="0.5589471571011129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보통주자본비율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우리금융</c:v>
                </c:pt>
                <c:pt idx="1">
                  <c:v>하나금융</c:v>
                </c:pt>
                <c:pt idx="2">
                  <c:v>신한금융</c:v>
                </c:pt>
                <c:pt idx="3">
                  <c:v>KB금융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9.92</c:v>
                </c:pt>
                <c:pt idx="1">
                  <c:v>12.03</c:v>
                </c:pt>
                <c:pt idx="2">
                  <c:v>12.86</c:v>
                </c:pt>
                <c:pt idx="3">
                  <c:v>13.29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99B-479D-B981-BDE353DD76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바젤3 도입 후 예상치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99B-479D-B981-BDE353DD76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우리금융</c:v>
                </c:pt>
                <c:pt idx="1">
                  <c:v>하나금융</c:v>
                </c:pt>
                <c:pt idx="2">
                  <c:v>신한금융</c:v>
                </c:pt>
                <c:pt idx="3">
                  <c:v>KB금융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1.5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99B-479D-B981-BDE353DD76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8166784"/>
        <c:axId val="198173440"/>
      </c:barChart>
      <c:catAx>
        <c:axId val="198166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8173440"/>
        <c:crosses val="autoZero"/>
        <c:auto val="1"/>
        <c:lblAlgn val="ctr"/>
        <c:lblOffset val="100"/>
        <c:noMultiLvlLbl val="0"/>
      </c:catAx>
      <c:valAx>
        <c:axId val="198173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바젤</a:t>
                </a:r>
                <a:r>
                  <a:rPr lang="en-US" altLang="ko-KR"/>
                  <a:t>3 : </a:t>
                </a:r>
                <a:r>
                  <a:rPr lang="ko-KR" altLang="en-US"/>
                  <a:t>은행 대출 중 기업대출 위험가중치 등 하향조정</a:t>
                </a:r>
              </a:p>
            </c:rich>
          </c:tx>
          <c:layout>
            <c:manualLayout>
              <c:xMode val="edge"/>
              <c:yMode val="edge"/>
              <c:x val="0.24623851706036745"/>
              <c:y val="0.15138763904511937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8166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484259327397157"/>
          <c:y val="0.90215193355788037"/>
          <c:w val="0.48083269907606013"/>
          <c:h val="8.43986522961225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당기순이익</a:t>
            </a:r>
            <a:endParaRPr lang="en-US" altLang="ko-KR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당기순이익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2021(예상)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16141</c:v>
                </c:pt>
                <c:pt idx="1">
                  <c:v>27181</c:v>
                </c:pt>
                <c:pt idx="2">
                  <c:v>31522</c:v>
                </c:pt>
                <c:pt idx="3">
                  <c:v>32587</c:v>
                </c:pt>
                <c:pt idx="4">
                  <c:v>38364</c:v>
                </c:pt>
                <c:pt idx="5">
                  <c:v>40784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556-42EF-968B-9FF11BFCD7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1687680"/>
        <c:axId val="231719296"/>
      </c:barChart>
      <c:catAx>
        <c:axId val="23168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31719296"/>
        <c:crosses val="autoZero"/>
        <c:auto val="1"/>
        <c:lblAlgn val="ctr"/>
        <c:lblOffset val="100"/>
        <c:noMultiLvlLbl val="0"/>
      </c:catAx>
      <c:valAx>
        <c:axId val="231719296"/>
        <c:scaling>
          <c:orientation val="minMax"/>
          <c:max val="41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31687680"/>
        <c:crosses val="autoZero"/>
        <c:crossBetween val="between"/>
        <c:minorUnit val="5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0.03022</cdr:x>
      <cdr:y>0.22546</cdr:y>
    </cdr:from>
    <cdr:to>
      <cdr:x>0.45879</cdr:x>
      <cdr:y>0.35195</cdr:y>
    </cdr:to>
    <cdr:sp macro="" textlink="">
      <cdr:nvSpPr>
        <cdr:cNvPr id="2" name="텍스트 상자 2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69850" y="589697"/>
          <a:ext cx="990597" cy="33084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rot="0" vert="horz" wrap="square" lIns="91440" tIns="45720" rIns="91440" bIns="45720" anchor="t" anchorCtr="0">
          <a:noAutofit/>
        </a:bodyPr>
        <a:lstStyle xmlns:a="http://schemas.openxmlformats.org/drawingml/2006/main"/>
        <a:p xmlns:a="http://schemas.openxmlformats.org/drawingml/2006/main">
          <a:pPr algn="just" latinLnBrk="1">
            <a:lnSpc>
              <a:spcPct val="115000"/>
            </a:lnSpc>
            <a:spcAft>
              <a:spcPts val="1000"/>
            </a:spcAft>
          </a:pPr>
          <a:r>
            <a:rPr lang="en-US" sz="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(</a:t>
          </a:r>
          <a:r>
            <a:rPr lang="ko-KR" sz="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전년대비</a:t>
          </a:r>
          <a:r>
            <a:rPr lang="en-US" sz="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, %)</a:t>
          </a:r>
          <a:endParaRPr lang="ko-KR" sz="1000" kern="100">
            <a:effectLst/>
            <a:latin typeface="맑은 고딕" panose="020B0503020000020004" pitchFamily="50" charset="-127"/>
            <a:ea typeface="맑은 고딕" panose="020B0503020000020004" pitchFamily="50" charset="-127"/>
            <a:cs typeface="Times New Roman" panose="02020603050405020304" pitchFamily="18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0.78069</cdr:x>
      <cdr:y>0.08944</cdr:y>
    </cdr:from>
    <cdr:to>
      <cdr:x>0.96717</cdr:x>
      <cdr:y>0.19566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xmlns="" id="{645920D0-6BBB-499F-9A5F-95C3888BBF0A}"/>
            </a:ext>
          </a:extLst>
        </cdr:cNvPr>
        <cdr:cNvSpPr txBox="1"/>
      </cdr:nvSpPr>
      <cdr:spPr>
        <a:xfrm xmlns:a="http://schemas.openxmlformats.org/drawingml/2006/main">
          <a:off x="3652619" y="233073"/>
          <a:ext cx="872456" cy="27683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ko-KR" altLang="en-US" sz="1100" dirty="0"/>
            <a:t>단위</a:t>
          </a:r>
          <a:r>
            <a:rPr lang="en-US" altLang="ko-KR" sz="1100" dirty="0"/>
            <a:t>: </a:t>
          </a:r>
          <a:r>
            <a:rPr lang="ko-KR" altLang="en-US" sz="1100" dirty="0"/>
            <a:t>억원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0FDBA0-AC86-431B-91BC-8D52A37C7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15A9FB1-D4D2-4917-AC91-C91E60972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AB7A0E-2396-4AAC-8C81-4CD5C69D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BA3BF5-7DDC-4026-BAEF-04A2DB26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D64148-25BD-4071-9BE0-96328EEC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55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BFB8E0-40BB-4DFC-8F7F-88C837B2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CC3177-1441-44C7-AC2F-30F29F17E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231FC6C-55EE-48C6-8A07-A2E36453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F01D06-235A-4467-A19E-F19FB5EB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4F2BF9-9557-459F-B7B4-1DD676E4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1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885D34-F744-4A9A-ABF8-8F6441C5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C50825B-C2B2-493F-94A8-AD705D856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32C2ED6-CB28-41AC-8427-B1E61B32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56EF07-E00A-4B03-AC72-48FD278B4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31A38C-BD09-4AE3-994B-95ACF550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9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EF0C16-96CB-45B9-AC97-4F538E2EE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590EE-119B-46E7-ABFA-EEAA09506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ECC65FA-0BFC-4D52-9AAB-C5A0A183B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F94D838-166D-48BE-A7CB-BBFF1ED0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9698D6C-0CF4-4504-BC6C-D94862F5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6E13F3D-4825-417B-BDF0-ECDE8F8F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351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B0EE3C-93F8-4ABB-A319-3F29CA50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9371DE4-2DD1-47CD-98A2-D0D4B8443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DC729DD-4B02-4CF3-BA81-B8A2C354F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75B34FA-4189-4B69-A3BA-AAF6EC58B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28747CF-5E2D-4D6D-AA02-8CDF532F6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B66A463-527A-4115-816B-948DD6EE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098F4F1-2FC7-4E1E-BC7B-AA42C1FC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C8AD389-5673-4CBD-A13E-1726DE50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26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A1D5E1-B0AF-49DA-816E-6DBD4173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B695F49-82DA-4884-97F8-0B4F4370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CEA518B-1D69-4423-AADB-26DCD0CD6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3CA478-67AA-4EEA-B43D-A7C6DE0F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524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1EE699B-4CDE-45E5-8E98-BADA4156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8DC077A-36FF-4DBD-954B-9522F276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0A345D6-D1F7-4E7D-8961-955529DA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29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EEF82C-3EA3-45D1-8886-8D8F3FA9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9E4EFD-513D-4525-A22B-4D711C851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1CF8336-62FF-4EC3-B304-4879E71B7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6E86973-1083-4E71-BD94-39B4122A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900DA1A-8629-4588-BCA5-3D485C098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00B5231-1460-4FFE-B955-49412BE8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957002-CF5D-4723-846C-2490F5C7A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B7DAE1D-B884-4719-A243-1D05FB9C1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204EC75-303C-42D9-8B0F-9B6E73DFE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25F6B4A-2BAF-4AAE-BE2E-9E000CA8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C214D88-9AA1-41D9-B5D3-A42C387FE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A0CF0EE-0F70-4E1F-8850-B510EF69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0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84DBD3-92ED-4B00-AF2E-E218F203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4BF755F-69C0-49DB-A309-37D7D1310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85DF338-5DF2-4988-B96B-CA5E46F6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D4FC6AB-62FB-4F76-B209-622872919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E8260E-ACA9-4B03-A19B-E0ED7233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65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621718F-E5E0-4D78-9D33-E442866AC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CF98A7E-0099-48BA-91EB-0765F9609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B5D0574-6AB1-4928-8B54-E596DEB89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B4E0CA-62B1-4F33-A283-2D2AC9A6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7B401E2-64C8-428D-B247-B3CCCD80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92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8103A43-8B3F-4438-B71B-62AC0903A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F9C3095-7C79-466F-9ED4-9D5FFB049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353985-E457-4018-8DC5-46F89E4FE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BB7A0-2212-4E0E-813C-00B3A505518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33123E-0532-46A3-A292-89775D4ED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41D24B-8801-41FD-9DFD-F021C2CEB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3A773-B4D7-4CE1-8463-7837A1210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15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33C7F87-B737-426F-9366-692FAD2D7890}"/>
              </a:ext>
            </a:extLst>
          </p:cNvPr>
          <p:cNvSpPr/>
          <p:nvPr/>
        </p:nvSpPr>
        <p:spPr>
          <a:xfrm>
            <a:off x="457200" y="443753"/>
            <a:ext cx="11174506" cy="5903260"/>
          </a:xfrm>
          <a:prstGeom prst="rect">
            <a:avLst/>
          </a:prstGeom>
          <a:noFill/>
          <a:ln w="38100"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4691BB-95B4-4D2B-9F8D-BDDE466B8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7857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6600" dirty="0">
                <a:latin typeface="hanam"/>
              </a:rPr>
              <a:t>하나금융그룹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55CBB-070E-4C8A-804B-0F80CC7A4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36708"/>
            <a:ext cx="9144000" cy="606891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latin typeface="hanam"/>
              </a:rPr>
              <a:t>[</a:t>
            </a:r>
            <a:r>
              <a:rPr lang="ko-KR" altLang="en-US" sz="2800" dirty="0">
                <a:latin typeface="hanam"/>
              </a:rPr>
              <a:t>은행팀</a:t>
            </a:r>
            <a:r>
              <a:rPr lang="en-US" altLang="ko-KR" sz="2800" dirty="0">
                <a:latin typeface="hanam"/>
              </a:rPr>
              <a:t>]</a:t>
            </a:r>
            <a:r>
              <a:rPr lang="ko-KR" altLang="en-US" sz="2800" dirty="0">
                <a:latin typeface="hanam"/>
              </a:rPr>
              <a:t> 강병관 박연수 최은빈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6E3659C-1188-456E-8625-034263C593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501590" y="475475"/>
            <a:ext cx="607424" cy="61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Contents</a:t>
            </a:r>
            <a:endParaRPr lang="ko-KR" altLang="en-US" dirty="0">
              <a:latin typeface="hana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AEFA9D9-8689-407E-9D76-0F4020BDD3D3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xmlns="" id="{9D7843FA-6546-4239-AEF8-314BEF758FFB}"/>
              </a:ext>
            </a:extLst>
          </p:cNvPr>
          <p:cNvSpPr txBox="1">
            <a:spLocks/>
          </p:cNvSpPr>
          <p:nvPr/>
        </p:nvSpPr>
        <p:spPr>
          <a:xfrm rot="16200000">
            <a:off x="8665639" y="5601373"/>
            <a:ext cx="642969" cy="2375646"/>
          </a:xfrm>
          <a:prstGeom prst="rect">
            <a:avLst/>
          </a:prstGeom>
        </p:spPr>
        <p:txBody>
          <a:bodyPr vert="eaVert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>
              <a:latin typeface="hanam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xmlns="" id="{F85FCAF8-ABAD-43DA-9396-EC4C215F9A4F}"/>
              </a:ext>
            </a:extLst>
          </p:cNvPr>
          <p:cNvSpPr/>
          <p:nvPr/>
        </p:nvSpPr>
        <p:spPr>
          <a:xfrm>
            <a:off x="3644157" y="2674475"/>
            <a:ext cx="3164531" cy="923150"/>
          </a:xfrm>
          <a:prstGeom prst="chevron">
            <a:avLst/>
          </a:prstGeom>
          <a:solidFill>
            <a:srgbClr val="3D998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solidFill>
                  <a:schemeClr val="tx1"/>
                </a:solidFill>
                <a:latin typeface="hanam"/>
              </a:rPr>
              <a:t>Analysis </a:t>
            </a:r>
          </a:p>
          <a:p>
            <a:r>
              <a:rPr lang="en-US" altLang="ko-KR" sz="2800" dirty="0">
                <a:solidFill>
                  <a:schemeClr val="tx1"/>
                </a:solidFill>
                <a:latin typeface="hanam"/>
              </a:rPr>
              <a:t>of Industry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xmlns="" id="{E236DFAE-809C-4D15-8647-4851E7B3440F}"/>
              </a:ext>
            </a:extLst>
          </p:cNvPr>
          <p:cNvSpPr/>
          <p:nvPr/>
        </p:nvSpPr>
        <p:spPr>
          <a:xfrm>
            <a:off x="838199" y="2681951"/>
            <a:ext cx="3164531" cy="923150"/>
          </a:xfrm>
          <a:prstGeom prst="homePlate">
            <a:avLst/>
          </a:prstGeom>
          <a:solidFill>
            <a:srgbClr val="3D998A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solidFill>
                  <a:schemeClr val="tx1"/>
                </a:solidFill>
                <a:latin typeface="hanam"/>
              </a:rPr>
              <a:t>Investment Idea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xmlns="" id="{E76E83C3-D51F-4119-97C5-0824AFBE1F00}"/>
              </a:ext>
            </a:extLst>
          </p:cNvPr>
          <p:cNvSpPr/>
          <p:nvPr/>
        </p:nvSpPr>
        <p:spPr>
          <a:xfrm>
            <a:off x="2631148" y="4134789"/>
            <a:ext cx="3164531" cy="923150"/>
          </a:xfrm>
          <a:prstGeom prst="chevron">
            <a:avLst/>
          </a:prstGeom>
          <a:solidFill>
            <a:srgbClr val="3D998A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>
                <a:solidFill>
                  <a:schemeClr val="tx1"/>
                </a:solidFill>
                <a:latin typeface="hanam"/>
              </a:rPr>
              <a:t>Investment</a:t>
            </a:r>
            <a:r>
              <a:rPr lang="ko-KR" altLang="en-US" sz="2800">
                <a:solidFill>
                  <a:schemeClr val="tx1"/>
                </a:solidFill>
                <a:latin typeface="hanam"/>
              </a:rPr>
              <a:t> </a:t>
            </a:r>
            <a:r>
              <a:rPr lang="en-US" altLang="ko-KR" sz="2800">
                <a:solidFill>
                  <a:schemeClr val="tx1"/>
                </a:solidFill>
                <a:latin typeface="hanam"/>
              </a:rPr>
              <a:t>Point</a:t>
            </a:r>
            <a:endParaRPr lang="en-US" altLang="ko-KR" sz="2800" dirty="0">
              <a:solidFill>
                <a:schemeClr val="tx1"/>
              </a:solidFill>
              <a:latin typeface="hanam"/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xmlns="" id="{29799893-03E0-4BEA-8B67-49DE29712C13}"/>
              </a:ext>
            </a:extLst>
          </p:cNvPr>
          <p:cNvSpPr/>
          <p:nvPr/>
        </p:nvSpPr>
        <p:spPr>
          <a:xfrm>
            <a:off x="5419177" y="4127313"/>
            <a:ext cx="3164531" cy="923150"/>
          </a:xfrm>
          <a:prstGeom prst="chevron">
            <a:avLst/>
          </a:prstGeom>
          <a:solidFill>
            <a:srgbClr val="3D998A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solidFill>
                  <a:schemeClr val="tx1"/>
                </a:solidFill>
                <a:latin typeface="hanam"/>
              </a:rPr>
              <a:t>Investment</a:t>
            </a:r>
            <a:r>
              <a:rPr lang="ko-KR" altLang="en-US" sz="2800" dirty="0">
                <a:solidFill>
                  <a:schemeClr val="tx1"/>
                </a:solidFill>
                <a:latin typeface="hanam"/>
              </a:rPr>
              <a:t> </a:t>
            </a:r>
            <a:r>
              <a:rPr lang="en-US" altLang="ko-KR" sz="2800" dirty="0">
                <a:solidFill>
                  <a:schemeClr val="tx1"/>
                </a:solidFill>
                <a:latin typeface="hanam"/>
              </a:rPr>
              <a:t>Risk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xmlns="" id="{0B1BF681-7DA9-484E-A4E1-ACB48EE50A31}"/>
              </a:ext>
            </a:extLst>
          </p:cNvPr>
          <p:cNvSpPr/>
          <p:nvPr/>
        </p:nvSpPr>
        <p:spPr>
          <a:xfrm>
            <a:off x="8207206" y="4127313"/>
            <a:ext cx="3164531" cy="923150"/>
          </a:xfrm>
          <a:prstGeom prst="chevron">
            <a:avLst/>
          </a:prstGeom>
          <a:solidFill>
            <a:srgbClr val="3D99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solidFill>
                  <a:schemeClr val="tx1"/>
                </a:solidFill>
                <a:latin typeface="hanam"/>
              </a:rPr>
              <a:t>Valuation</a:t>
            </a: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xmlns="" id="{6E780E6C-FF15-40F8-9BDC-33FFC9166ED1}"/>
              </a:ext>
            </a:extLst>
          </p:cNvPr>
          <p:cNvSpPr/>
          <p:nvPr/>
        </p:nvSpPr>
        <p:spPr>
          <a:xfrm>
            <a:off x="6450115" y="2681951"/>
            <a:ext cx="3164531" cy="923150"/>
          </a:xfrm>
          <a:prstGeom prst="chevron">
            <a:avLst/>
          </a:prstGeom>
          <a:solidFill>
            <a:srgbClr val="3D998A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solidFill>
                  <a:schemeClr val="tx1"/>
                </a:solidFill>
                <a:latin typeface="hanam"/>
              </a:rPr>
              <a:t>Analysis </a:t>
            </a:r>
          </a:p>
          <a:p>
            <a:r>
              <a:rPr lang="en-US" altLang="ko-KR" sz="2800" dirty="0">
                <a:solidFill>
                  <a:schemeClr val="tx1"/>
                </a:solidFill>
                <a:latin typeface="hanam"/>
              </a:rPr>
              <a:t>of Corp.</a:t>
            </a:r>
          </a:p>
        </p:txBody>
      </p:sp>
    </p:spTree>
    <p:extLst>
      <p:ext uri="{BB962C8B-B14F-4D97-AF65-F5344CB8AC3E}">
        <p14:creationId xmlns:p14="http://schemas.microsoft.com/office/powerpoint/2010/main" val="321854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067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hanam"/>
              </a:rPr>
              <a:t>Investment Idea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C2185B7-C8D5-4086-AA13-17F4E9036EB5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35310A0-2FD4-4AE0-9BFA-BAE3CA4A38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sp>
        <p:nvSpPr>
          <p:cNvPr id="5" name="Flowchart: Process 4">
            <a:extLst>
              <a:ext uri="{FF2B5EF4-FFF2-40B4-BE49-F238E27FC236}">
                <a16:creationId xmlns:a16="http://schemas.microsoft.com/office/drawing/2014/main" xmlns="" id="{5C8775B1-17B9-4FEF-A70A-C42314390652}"/>
              </a:ext>
            </a:extLst>
          </p:cNvPr>
          <p:cNvSpPr/>
          <p:nvPr/>
        </p:nvSpPr>
        <p:spPr>
          <a:xfrm>
            <a:off x="2662177" y="2106589"/>
            <a:ext cx="3398701" cy="1610073"/>
          </a:xfrm>
          <a:prstGeom prst="flowChartProcess">
            <a:avLst/>
          </a:prstGeom>
          <a:solidFill>
            <a:srgbClr val="00848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로보어드바이저를 통한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언택트 트렌드 주도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xmlns="" id="{649A7466-9E6E-452A-AE21-CADD99A988BF}"/>
              </a:ext>
            </a:extLst>
          </p:cNvPr>
          <p:cNvSpPr/>
          <p:nvPr/>
        </p:nvSpPr>
        <p:spPr>
          <a:xfrm>
            <a:off x="6128114" y="2099447"/>
            <a:ext cx="3398701" cy="1610073"/>
          </a:xfrm>
          <a:prstGeom prst="flowChartProcess">
            <a:avLst/>
          </a:prstGeom>
          <a:solidFill>
            <a:srgbClr val="00848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하나금융투자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온실가스 배출권 거래시장 조성자 선정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xmlns="" id="{EFFF8130-ACF5-45F9-B6A4-E1EF42F2D710}"/>
              </a:ext>
            </a:extLst>
          </p:cNvPr>
          <p:cNvSpPr/>
          <p:nvPr/>
        </p:nvSpPr>
        <p:spPr>
          <a:xfrm>
            <a:off x="2662177" y="3765363"/>
            <a:ext cx="3398701" cy="1618733"/>
          </a:xfrm>
          <a:prstGeom prst="flowChartProcess">
            <a:avLst/>
          </a:prstGeom>
          <a:solidFill>
            <a:srgbClr val="00848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비대면 채널 강화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xmlns="" id="{9ED3E68E-8E89-4C98-BE39-DB26E9551397}"/>
              </a:ext>
            </a:extLst>
          </p:cNvPr>
          <p:cNvSpPr/>
          <p:nvPr/>
        </p:nvSpPr>
        <p:spPr>
          <a:xfrm>
            <a:off x="6126321" y="3776938"/>
            <a:ext cx="3398701" cy="1610073"/>
          </a:xfrm>
          <a:prstGeom prst="flowChartProcess">
            <a:avLst/>
          </a:prstGeom>
          <a:solidFill>
            <a:srgbClr val="008485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종합금융화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은행상품의 복합화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325FB468-C0D3-4F31-8460-E9BA929DF8AE}"/>
              </a:ext>
            </a:extLst>
          </p:cNvPr>
          <p:cNvSpPr/>
          <p:nvPr/>
        </p:nvSpPr>
        <p:spPr>
          <a:xfrm>
            <a:off x="5926408" y="3557353"/>
            <a:ext cx="349624" cy="334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8485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차트 18">
            <a:extLst>
              <a:ext uri="{FF2B5EF4-FFF2-40B4-BE49-F238E27FC236}">
                <a16:creationId xmlns:a16="http://schemas.microsoft.com/office/drawing/2014/main" xmlns="" id="{ED24088A-7434-4D3D-80BE-D50830AF7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7757871"/>
              </p:ext>
            </p:extLst>
          </p:nvPr>
        </p:nvGraphicFramePr>
        <p:xfrm>
          <a:off x="458782" y="1600749"/>
          <a:ext cx="5600673" cy="2164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24">
            <a:extLst>
              <a:ext uri="{FF2B5EF4-FFF2-40B4-BE49-F238E27FC236}">
                <a16:creationId xmlns:a16="http://schemas.microsoft.com/office/drawing/2014/main" xmlns="" id="{27FB8F07-0774-48C2-ACB1-404FCBF992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672855"/>
              </p:ext>
            </p:extLst>
          </p:nvPr>
        </p:nvGraphicFramePr>
        <p:xfrm>
          <a:off x="2981361" y="3944484"/>
          <a:ext cx="2453640" cy="2615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차트 26">
            <a:extLst>
              <a:ext uri="{FF2B5EF4-FFF2-40B4-BE49-F238E27FC236}">
                <a16:creationId xmlns:a16="http://schemas.microsoft.com/office/drawing/2014/main" xmlns="" id="{359DFFB8-3AF4-4609-BB7E-48C8FB4A47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5365516"/>
              </p:ext>
            </p:extLst>
          </p:nvPr>
        </p:nvGraphicFramePr>
        <p:xfrm>
          <a:off x="505977" y="3942726"/>
          <a:ext cx="2438400" cy="2615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FFDE1133-EDEF-4924-A21D-25C5418FE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665623"/>
              </p:ext>
            </p:extLst>
          </p:nvPr>
        </p:nvGraphicFramePr>
        <p:xfrm>
          <a:off x="6752198" y="4802819"/>
          <a:ext cx="5087358" cy="1828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40482">
                  <a:extLst>
                    <a:ext uri="{9D8B030D-6E8A-4147-A177-3AD203B41FA5}">
                      <a16:colId xmlns:a16="http://schemas.microsoft.com/office/drawing/2014/main" xmlns="" val="63246228"/>
                    </a:ext>
                  </a:extLst>
                </a:gridCol>
                <a:gridCol w="1312960">
                  <a:extLst>
                    <a:ext uri="{9D8B030D-6E8A-4147-A177-3AD203B41FA5}">
                      <a16:colId xmlns:a16="http://schemas.microsoft.com/office/drawing/2014/main" xmlns="" val="1503294293"/>
                    </a:ext>
                  </a:extLst>
                </a:gridCol>
                <a:gridCol w="1312960">
                  <a:extLst>
                    <a:ext uri="{9D8B030D-6E8A-4147-A177-3AD203B41FA5}">
                      <a16:colId xmlns:a16="http://schemas.microsoft.com/office/drawing/2014/main" xmlns="" val="3830318049"/>
                    </a:ext>
                  </a:extLst>
                </a:gridCol>
                <a:gridCol w="920956">
                  <a:extLst>
                    <a:ext uri="{9D8B030D-6E8A-4147-A177-3AD203B41FA5}">
                      <a16:colId xmlns:a16="http://schemas.microsoft.com/office/drawing/2014/main" xmlns="" val="3103516473"/>
                    </a:ext>
                  </a:extLst>
                </a:gridCol>
              </a:tblGrid>
              <a:tr h="221873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1000" kern="0" dirty="0">
                          <a:effectLst/>
                        </a:rPr>
                        <a:t>회사명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2021</a:t>
                      </a:r>
                      <a:r>
                        <a:rPr lang="ko-KR" sz="1000" kern="0" dirty="0">
                          <a:effectLst/>
                        </a:rPr>
                        <a:t>년 </a:t>
                      </a:r>
                      <a:r>
                        <a:rPr lang="en-US" sz="1000" kern="0" dirty="0">
                          <a:effectLst/>
                        </a:rPr>
                        <a:t>1</a:t>
                      </a:r>
                      <a:r>
                        <a:rPr lang="ko-KR" sz="1000" kern="0" dirty="0">
                          <a:effectLst/>
                        </a:rPr>
                        <a:t>월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2020</a:t>
                      </a:r>
                      <a:r>
                        <a:rPr lang="ko-KR" sz="1000" kern="0" dirty="0">
                          <a:effectLst/>
                        </a:rPr>
                        <a:t>년 </a:t>
                      </a:r>
                      <a:r>
                        <a:rPr lang="en-US" sz="1000" kern="0" dirty="0">
                          <a:effectLst/>
                        </a:rPr>
                        <a:t>1</a:t>
                      </a:r>
                      <a:r>
                        <a:rPr lang="ko-KR" sz="1000" kern="0" dirty="0">
                          <a:effectLst/>
                        </a:rPr>
                        <a:t>월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1000" kern="0" dirty="0">
                          <a:effectLst/>
                        </a:rPr>
                        <a:t>증감률</a:t>
                      </a:r>
                      <a:r>
                        <a:rPr lang="en-US" sz="1000" kern="0" dirty="0">
                          <a:effectLst/>
                        </a:rPr>
                        <a:t>(%)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01407740"/>
                  </a:ext>
                </a:extLst>
              </a:tr>
              <a:tr h="221873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1000" kern="0" dirty="0">
                          <a:effectLst/>
                        </a:rPr>
                        <a:t>삼성생명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1194</a:t>
                      </a:r>
                      <a:r>
                        <a:rPr lang="ko-KR" sz="1000" kern="0" dirty="0">
                          <a:effectLst/>
                        </a:rPr>
                        <a:t>억 </a:t>
                      </a:r>
                      <a:r>
                        <a:rPr lang="en-US" sz="1000" kern="0" dirty="0">
                          <a:effectLst/>
                        </a:rPr>
                        <a:t>2000</a:t>
                      </a:r>
                      <a:r>
                        <a:rPr lang="ko-KR" sz="1000" kern="0" dirty="0">
                          <a:effectLst/>
                        </a:rPr>
                        <a:t>만원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615</a:t>
                      </a:r>
                      <a:r>
                        <a:rPr lang="ko-KR" sz="1000" kern="0">
                          <a:effectLst/>
                        </a:rPr>
                        <a:t>억 </a:t>
                      </a:r>
                      <a:r>
                        <a:rPr lang="en-US" sz="1000" kern="0">
                          <a:effectLst/>
                        </a:rPr>
                        <a:t>2400</a:t>
                      </a:r>
                      <a:r>
                        <a:rPr lang="ko-KR" sz="1000" kern="0">
                          <a:effectLst/>
                        </a:rPr>
                        <a:t>만원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94.1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23251890"/>
                  </a:ext>
                </a:extLst>
              </a:tr>
              <a:tr h="221873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KB</a:t>
                      </a:r>
                      <a:r>
                        <a:rPr lang="ko-KR" sz="1000" kern="0" dirty="0">
                          <a:effectLst/>
                        </a:rPr>
                        <a:t>생명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68</a:t>
                      </a:r>
                      <a:r>
                        <a:rPr lang="ko-KR" sz="1000" kern="0" dirty="0">
                          <a:effectLst/>
                        </a:rPr>
                        <a:t>억 </a:t>
                      </a:r>
                      <a:r>
                        <a:rPr lang="en-US" sz="1000" kern="0" dirty="0">
                          <a:effectLst/>
                        </a:rPr>
                        <a:t>5000</a:t>
                      </a:r>
                      <a:r>
                        <a:rPr lang="ko-KR" sz="1000" kern="0" dirty="0">
                          <a:effectLst/>
                        </a:rPr>
                        <a:t>만원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8</a:t>
                      </a:r>
                      <a:r>
                        <a:rPr lang="ko-KR" sz="1000" kern="0">
                          <a:effectLst/>
                        </a:rPr>
                        <a:t>억 </a:t>
                      </a:r>
                      <a:r>
                        <a:rPr lang="en-US" sz="1000" kern="0">
                          <a:effectLst/>
                        </a:rPr>
                        <a:t>2800</a:t>
                      </a:r>
                      <a:r>
                        <a:rPr lang="ko-KR" sz="1000" kern="0">
                          <a:effectLst/>
                        </a:rPr>
                        <a:t>만원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727.3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68430584"/>
                  </a:ext>
                </a:extLst>
              </a:tr>
              <a:tr h="221873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DB</a:t>
                      </a:r>
                      <a:r>
                        <a:rPr lang="ko-KR" sz="1000" kern="0" dirty="0">
                          <a:effectLst/>
                        </a:rPr>
                        <a:t>생명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10</a:t>
                      </a:r>
                      <a:r>
                        <a:rPr lang="ko-KR" sz="1000" kern="0" dirty="0">
                          <a:effectLst/>
                        </a:rPr>
                        <a:t>억 </a:t>
                      </a:r>
                      <a:r>
                        <a:rPr lang="en-US" sz="1000" kern="0" dirty="0">
                          <a:effectLst/>
                        </a:rPr>
                        <a:t>1100</a:t>
                      </a:r>
                      <a:r>
                        <a:rPr lang="ko-KR" sz="1000" kern="0" dirty="0">
                          <a:effectLst/>
                        </a:rPr>
                        <a:t>만원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2</a:t>
                      </a:r>
                      <a:r>
                        <a:rPr lang="ko-KR" sz="1000" kern="0" dirty="0">
                          <a:effectLst/>
                        </a:rPr>
                        <a:t>억 </a:t>
                      </a:r>
                      <a:r>
                        <a:rPr lang="en-US" sz="1000" kern="0" dirty="0">
                          <a:effectLst/>
                        </a:rPr>
                        <a:t>4900</a:t>
                      </a:r>
                      <a:r>
                        <a:rPr lang="ko-KR" sz="1000" kern="0" dirty="0">
                          <a:effectLst/>
                        </a:rPr>
                        <a:t>만원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306.0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10493766"/>
                  </a:ext>
                </a:extLst>
              </a:tr>
              <a:tr h="221873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1000" kern="0" dirty="0">
                          <a:effectLst/>
                        </a:rPr>
                        <a:t>동양생명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249</a:t>
                      </a:r>
                      <a:r>
                        <a:rPr lang="ko-KR" sz="1000" kern="0">
                          <a:effectLst/>
                        </a:rPr>
                        <a:t>억 </a:t>
                      </a:r>
                      <a:r>
                        <a:rPr lang="en-US" sz="1000" kern="0">
                          <a:effectLst/>
                        </a:rPr>
                        <a:t>9800</a:t>
                      </a:r>
                      <a:r>
                        <a:rPr lang="ko-KR" sz="1000" kern="0">
                          <a:effectLst/>
                        </a:rPr>
                        <a:t>만원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122</a:t>
                      </a:r>
                      <a:r>
                        <a:rPr lang="ko-KR" sz="1000" kern="0" dirty="0">
                          <a:effectLst/>
                        </a:rPr>
                        <a:t>억 </a:t>
                      </a:r>
                      <a:r>
                        <a:rPr lang="en-US" sz="1000" kern="0" dirty="0">
                          <a:effectLst/>
                        </a:rPr>
                        <a:t>5700</a:t>
                      </a:r>
                      <a:r>
                        <a:rPr lang="ko-KR" sz="1000" kern="0" dirty="0">
                          <a:effectLst/>
                        </a:rPr>
                        <a:t>만원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103.9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83713610"/>
                  </a:ext>
                </a:extLst>
              </a:tr>
              <a:tr h="221873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1000" kern="0" dirty="0">
                          <a:effectLst/>
                        </a:rPr>
                        <a:t>메트라이프생명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63</a:t>
                      </a:r>
                      <a:r>
                        <a:rPr lang="ko-KR" sz="1000" kern="0">
                          <a:effectLst/>
                        </a:rPr>
                        <a:t>억 </a:t>
                      </a:r>
                      <a:r>
                        <a:rPr lang="en-US" sz="1000" kern="0">
                          <a:effectLst/>
                        </a:rPr>
                        <a:t>7100</a:t>
                      </a:r>
                      <a:r>
                        <a:rPr lang="ko-KR" sz="1000" kern="0">
                          <a:effectLst/>
                        </a:rPr>
                        <a:t>만원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13</a:t>
                      </a:r>
                      <a:r>
                        <a:rPr lang="ko-KR" sz="1000" kern="0" dirty="0">
                          <a:effectLst/>
                        </a:rPr>
                        <a:t>억 </a:t>
                      </a:r>
                      <a:r>
                        <a:rPr lang="en-US" sz="1000" kern="0" dirty="0">
                          <a:effectLst/>
                        </a:rPr>
                        <a:t>6100</a:t>
                      </a:r>
                      <a:r>
                        <a:rPr lang="ko-KR" sz="1000" kern="0" dirty="0">
                          <a:effectLst/>
                        </a:rPr>
                        <a:t>만원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368.1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03733050"/>
                  </a:ext>
                </a:extLst>
              </a:tr>
              <a:tr h="221873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1000" kern="0" dirty="0">
                          <a:effectLst/>
                        </a:rPr>
                        <a:t>교보라이프플래닛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4</a:t>
                      </a:r>
                      <a:r>
                        <a:rPr lang="ko-KR" sz="1000" kern="0">
                          <a:effectLst/>
                        </a:rPr>
                        <a:t>억 </a:t>
                      </a:r>
                      <a:r>
                        <a:rPr lang="en-US" sz="1000" kern="0">
                          <a:effectLst/>
                        </a:rPr>
                        <a:t>8800</a:t>
                      </a:r>
                      <a:r>
                        <a:rPr lang="ko-KR" sz="1000" kern="0">
                          <a:effectLst/>
                        </a:rPr>
                        <a:t>만원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1</a:t>
                      </a:r>
                      <a:r>
                        <a:rPr lang="ko-KR" sz="1000" kern="0" dirty="0">
                          <a:effectLst/>
                        </a:rPr>
                        <a:t>억 </a:t>
                      </a:r>
                      <a:r>
                        <a:rPr lang="en-US" sz="1000" kern="0" dirty="0">
                          <a:effectLst/>
                        </a:rPr>
                        <a:t>8000</a:t>
                      </a:r>
                      <a:r>
                        <a:rPr lang="ko-KR" sz="1000" kern="0" dirty="0">
                          <a:effectLst/>
                        </a:rPr>
                        <a:t>만원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171.1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53677647"/>
                  </a:ext>
                </a:extLst>
              </a:tr>
              <a:tr h="221873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24</a:t>
                      </a:r>
                      <a:r>
                        <a:rPr lang="ko-KR" sz="1000" kern="0" dirty="0">
                          <a:effectLst/>
                        </a:rPr>
                        <a:t>개 생명보험사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3233</a:t>
                      </a:r>
                      <a:r>
                        <a:rPr lang="ko-KR" sz="1000" kern="0">
                          <a:effectLst/>
                        </a:rPr>
                        <a:t>억 </a:t>
                      </a:r>
                      <a:r>
                        <a:rPr lang="en-US" sz="1000" kern="0">
                          <a:effectLst/>
                        </a:rPr>
                        <a:t>7200</a:t>
                      </a:r>
                      <a:r>
                        <a:rPr lang="ko-KR" sz="1000" kern="0">
                          <a:effectLst/>
                        </a:rPr>
                        <a:t>만원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effectLst/>
                        </a:rPr>
                        <a:t>2727</a:t>
                      </a:r>
                      <a:r>
                        <a:rPr lang="ko-KR" sz="1000" kern="0">
                          <a:effectLst/>
                        </a:rPr>
                        <a:t>억 </a:t>
                      </a:r>
                      <a:r>
                        <a:rPr lang="en-US" sz="1000" kern="0">
                          <a:effectLst/>
                        </a:rPr>
                        <a:t>6700</a:t>
                      </a:r>
                      <a:r>
                        <a:rPr lang="ko-KR" sz="1000" kern="0">
                          <a:effectLst/>
                        </a:rPr>
                        <a:t>만원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effectLst/>
                        </a:rPr>
                        <a:t>18.6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79494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23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Graphic spid="12" grpId="0">
        <p:bldAsOne/>
      </p:bldGraphic>
      <p:bldGraphic spid="1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Analysis of Industry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시장 현황 및 전망 </a:t>
            </a:r>
            <a:r>
              <a:rPr lang="en-US" altLang="ko-KR" dirty="0"/>
              <a:t>– </a:t>
            </a:r>
            <a:r>
              <a:rPr lang="ko-KR" altLang="en-US" dirty="0"/>
              <a:t>효율성 추구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265F2BA-023E-48B5-8547-FF5A501E191E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19AAFB-0514-46B5-9940-1209726A6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xmlns="" id="{05F32F9E-CF67-499F-AD1A-EDCDC1A616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1688957"/>
              </p:ext>
            </p:extLst>
          </p:nvPr>
        </p:nvGraphicFramePr>
        <p:xfrm>
          <a:off x="753933" y="2396901"/>
          <a:ext cx="5461671" cy="3958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xmlns="" id="{9640B40A-96A2-49A9-886E-1D2521056B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195468"/>
              </p:ext>
            </p:extLst>
          </p:nvPr>
        </p:nvGraphicFramePr>
        <p:xfrm>
          <a:off x="6447099" y="2534857"/>
          <a:ext cx="3784920" cy="3820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8225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Analysis of Industry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시장 현황 및 전망 </a:t>
            </a:r>
            <a:r>
              <a:rPr lang="en-US" altLang="ko-KR" dirty="0"/>
              <a:t>– </a:t>
            </a:r>
            <a:r>
              <a:rPr lang="ko-KR" altLang="en-US" dirty="0"/>
              <a:t>복합화</a:t>
            </a:r>
            <a:r>
              <a:rPr lang="en-US" altLang="ko-KR" dirty="0"/>
              <a:t>, </a:t>
            </a:r>
            <a:r>
              <a:rPr lang="ko-KR" altLang="en-US" dirty="0"/>
              <a:t>종합금융화</a:t>
            </a:r>
            <a:r>
              <a:rPr lang="en-US" altLang="ko-KR" dirty="0"/>
              <a:t>, </a:t>
            </a:r>
            <a:r>
              <a:rPr lang="ko-KR" altLang="en-US" dirty="0"/>
              <a:t>증권화</a:t>
            </a:r>
            <a:r>
              <a:rPr lang="en-US" altLang="ko-KR" dirty="0"/>
              <a:t>, </a:t>
            </a:r>
            <a:r>
              <a:rPr lang="ko-KR" altLang="en-US" dirty="0"/>
              <a:t>투자은행으로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265F2BA-023E-48B5-8547-FF5A501E191E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19AAFB-0514-46B5-9940-1209726A6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ABB34EF-5710-49F4-953B-4DAE1F15AC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350" t="21804" r="18520" b="8609"/>
          <a:stretch/>
        </p:blipFill>
        <p:spPr>
          <a:xfrm>
            <a:off x="2521258" y="2573817"/>
            <a:ext cx="6764785" cy="39444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14626AE-F1D3-4E7A-B946-3C875C74220A}"/>
              </a:ext>
            </a:extLst>
          </p:cNvPr>
          <p:cNvSpPr/>
          <p:nvPr/>
        </p:nvSpPr>
        <p:spPr>
          <a:xfrm>
            <a:off x="3883657" y="3473724"/>
            <a:ext cx="4630027" cy="2378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B84920D-2684-4454-84FE-5CE5E7F9B169}"/>
              </a:ext>
            </a:extLst>
          </p:cNvPr>
          <p:cNvSpPr/>
          <p:nvPr/>
        </p:nvSpPr>
        <p:spPr>
          <a:xfrm>
            <a:off x="5079685" y="2652212"/>
            <a:ext cx="3433999" cy="2378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53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Analysis of Industry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시장 현황 및 전망 </a:t>
            </a:r>
            <a:r>
              <a:rPr lang="en-US" altLang="ko-KR" dirty="0"/>
              <a:t>– </a:t>
            </a:r>
            <a:r>
              <a:rPr lang="ko-KR" altLang="en-US" dirty="0"/>
              <a:t>비대면 채널 활성화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265F2BA-023E-48B5-8547-FF5A501E191E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19AAFB-0514-46B5-9940-1209726A6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xmlns="" id="{04393DF2-1A0F-47AA-BC34-79A2E83DDF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7043032"/>
              </p:ext>
            </p:extLst>
          </p:nvPr>
        </p:nvGraphicFramePr>
        <p:xfrm>
          <a:off x="1334432" y="2579549"/>
          <a:ext cx="4167729" cy="3425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xmlns="" id="{E4FDBCD8-CBB2-432F-BE93-1FBC5EC231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385557"/>
              </p:ext>
            </p:extLst>
          </p:nvPr>
        </p:nvGraphicFramePr>
        <p:xfrm>
          <a:off x="5998393" y="2579548"/>
          <a:ext cx="4167728" cy="3425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246E79B9-7F09-4E84-B37E-123B75FEF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918715"/>
              </p:ext>
            </p:extLst>
          </p:nvPr>
        </p:nvGraphicFramePr>
        <p:xfrm>
          <a:off x="1345367" y="2683715"/>
          <a:ext cx="9173902" cy="33213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28984">
                  <a:extLst>
                    <a:ext uri="{9D8B030D-6E8A-4147-A177-3AD203B41FA5}">
                      <a16:colId xmlns:a16="http://schemas.microsoft.com/office/drawing/2014/main" xmlns="" val="2006834622"/>
                    </a:ext>
                  </a:extLst>
                </a:gridCol>
                <a:gridCol w="1275891">
                  <a:extLst>
                    <a:ext uri="{9D8B030D-6E8A-4147-A177-3AD203B41FA5}">
                      <a16:colId xmlns:a16="http://schemas.microsoft.com/office/drawing/2014/main" xmlns="" val="4106066688"/>
                    </a:ext>
                  </a:extLst>
                </a:gridCol>
                <a:gridCol w="1466332">
                  <a:extLst>
                    <a:ext uri="{9D8B030D-6E8A-4147-A177-3AD203B41FA5}">
                      <a16:colId xmlns:a16="http://schemas.microsoft.com/office/drawing/2014/main" xmlns="" val="95680006"/>
                    </a:ext>
                  </a:extLst>
                </a:gridCol>
                <a:gridCol w="1488719">
                  <a:extLst>
                    <a:ext uri="{9D8B030D-6E8A-4147-A177-3AD203B41FA5}">
                      <a16:colId xmlns:a16="http://schemas.microsoft.com/office/drawing/2014/main" xmlns="" val="19902693"/>
                    </a:ext>
                  </a:extLst>
                </a:gridCol>
                <a:gridCol w="2025014">
                  <a:extLst>
                    <a:ext uri="{9D8B030D-6E8A-4147-A177-3AD203B41FA5}">
                      <a16:colId xmlns:a16="http://schemas.microsoft.com/office/drawing/2014/main" xmlns="" val="3811517144"/>
                    </a:ext>
                  </a:extLst>
                </a:gridCol>
                <a:gridCol w="1388962">
                  <a:extLst>
                    <a:ext uri="{9D8B030D-6E8A-4147-A177-3AD203B41FA5}">
                      <a16:colId xmlns:a16="http://schemas.microsoft.com/office/drawing/2014/main" xmlns="" val="72857113"/>
                    </a:ext>
                  </a:extLst>
                </a:gridCol>
              </a:tblGrid>
              <a:tr h="664276"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0" dirty="0">
                          <a:effectLst/>
                          <a:latin typeface="+mn-lt"/>
                        </a:rPr>
                        <a:t> 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2400" b="1" kern="0" dirty="0">
                          <a:effectLst/>
                          <a:latin typeface="+mn-lt"/>
                        </a:rPr>
                        <a:t>창구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0" dirty="0">
                          <a:effectLst/>
                          <a:latin typeface="+mn-lt"/>
                        </a:rPr>
                        <a:t>CD/ATM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2400" b="1" kern="0" dirty="0">
                          <a:effectLst/>
                          <a:latin typeface="+mn-lt"/>
                        </a:rPr>
                        <a:t>텔레뱅킹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2400" b="1" kern="0" dirty="0">
                          <a:effectLst/>
                          <a:latin typeface="+mn-lt"/>
                        </a:rPr>
                        <a:t>인터넷뱅킹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2400" b="1" kern="0" dirty="0">
                          <a:effectLst/>
                          <a:latin typeface="+mn-lt"/>
                        </a:rPr>
                        <a:t>전체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56638109"/>
                  </a:ext>
                </a:extLst>
              </a:tr>
              <a:tr h="664276"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0" dirty="0">
                          <a:effectLst/>
                          <a:latin typeface="+mn-lt"/>
                        </a:rPr>
                        <a:t>2017</a:t>
                      </a:r>
                      <a:r>
                        <a:rPr lang="ko-KR" sz="2400" b="1" kern="0" dirty="0">
                          <a:effectLst/>
                          <a:latin typeface="+mn-lt"/>
                        </a:rPr>
                        <a:t>년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 dirty="0">
                          <a:effectLst/>
                          <a:latin typeface="+mn-lt"/>
                        </a:rPr>
                        <a:t>10.0</a:t>
                      </a:r>
                      <a:endParaRPr lang="ko-KR" sz="2400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 dirty="0">
                          <a:effectLst/>
                          <a:latin typeface="+mn-lt"/>
                        </a:rPr>
                        <a:t>34.7</a:t>
                      </a:r>
                      <a:endParaRPr lang="ko-KR" sz="2400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9.9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45.4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100.0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8876885"/>
                  </a:ext>
                </a:extLst>
              </a:tr>
              <a:tr h="664276"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0" dirty="0">
                          <a:effectLst/>
                          <a:latin typeface="+mn-lt"/>
                        </a:rPr>
                        <a:t>2018</a:t>
                      </a:r>
                      <a:r>
                        <a:rPr lang="ko-KR" sz="2400" b="1" kern="0" dirty="0">
                          <a:effectLst/>
                          <a:latin typeface="+mn-lt"/>
                        </a:rPr>
                        <a:t>년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8.9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 dirty="0">
                          <a:effectLst/>
                          <a:latin typeface="+mn-lt"/>
                        </a:rPr>
                        <a:t>30.6</a:t>
                      </a:r>
                      <a:endParaRPr lang="ko-KR" sz="2400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 dirty="0">
                          <a:effectLst/>
                          <a:latin typeface="+mn-lt"/>
                        </a:rPr>
                        <a:t>8.0</a:t>
                      </a:r>
                      <a:endParaRPr lang="ko-KR" sz="2400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52.6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100.0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91443505"/>
                  </a:ext>
                </a:extLst>
              </a:tr>
              <a:tr h="664276"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0" dirty="0">
                          <a:effectLst/>
                          <a:latin typeface="+mn-lt"/>
                        </a:rPr>
                        <a:t>2019</a:t>
                      </a:r>
                      <a:r>
                        <a:rPr lang="ko-KR" sz="2400" b="1" kern="0" dirty="0">
                          <a:effectLst/>
                          <a:latin typeface="+mn-lt"/>
                        </a:rPr>
                        <a:t>년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8.2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27.2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 dirty="0">
                          <a:effectLst/>
                          <a:latin typeface="+mn-lt"/>
                        </a:rPr>
                        <a:t>6.4</a:t>
                      </a:r>
                      <a:endParaRPr lang="ko-KR" sz="2400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 dirty="0">
                          <a:effectLst/>
                          <a:latin typeface="+mn-lt"/>
                        </a:rPr>
                        <a:t>58.2</a:t>
                      </a:r>
                      <a:endParaRPr lang="ko-KR" sz="2400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100.0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47674339"/>
                  </a:ext>
                </a:extLst>
              </a:tr>
              <a:tr h="664276"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0" dirty="0">
                          <a:effectLst/>
                          <a:latin typeface="+mn-lt"/>
                        </a:rPr>
                        <a:t>2020</a:t>
                      </a:r>
                      <a:r>
                        <a:rPr lang="ko-KR" sz="2400" b="1" kern="0" dirty="0">
                          <a:effectLst/>
                          <a:latin typeface="+mn-lt"/>
                        </a:rPr>
                        <a:t>년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 dirty="0">
                          <a:effectLst/>
                          <a:latin typeface="+mn-lt"/>
                        </a:rPr>
                        <a:t>7.3</a:t>
                      </a:r>
                      <a:endParaRPr lang="ko-KR" sz="2400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21.6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>
                          <a:effectLst/>
                          <a:latin typeface="+mn-lt"/>
                        </a:rPr>
                        <a:t>5.3</a:t>
                      </a:r>
                      <a:endParaRPr lang="ko-KR" sz="2400" kern="10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0" dirty="0">
                          <a:effectLst/>
                          <a:latin typeface="+mn-lt"/>
                        </a:rPr>
                        <a:t>65.8</a:t>
                      </a:r>
                      <a:endParaRPr lang="ko-KR" sz="2400" b="1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9C7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0" dirty="0">
                          <a:effectLst/>
                          <a:latin typeface="+mn-lt"/>
                        </a:rPr>
                        <a:t>100.0</a:t>
                      </a:r>
                      <a:endParaRPr lang="ko-KR" sz="2400" kern="100" dirty="0">
                        <a:effectLst/>
                        <a:latin typeface="+mn-lt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0442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3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Analysis of Industry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시장 현황 및 전망 </a:t>
            </a:r>
            <a:r>
              <a:rPr lang="en-US" altLang="ko-KR" dirty="0"/>
              <a:t>– </a:t>
            </a:r>
            <a:r>
              <a:rPr lang="ko-KR" altLang="en-US" dirty="0"/>
              <a:t>성장 전망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265F2BA-023E-48B5-8547-FF5A501E191E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19AAFB-0514-46B5-9940-1209726A6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pic>
        <p:nvPicPr>
          <p:cNvPr id="6" name="그림 3" descr="EMB0000167063e8">
            <a:extLst>
              <a:ext uri="{FF2B5EF4-FFF2-40B4-BE49-F238E27FC236}">
                <a16:creationId xmlns:a16="http://schemas.microsoft.com/office/drawing/2014/main" xmlns="" id="{38DD4580-76F9-4FCE-8D9B-AE3B4558D64A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56" t="26885" r="61185" b="49777"/>
          <a:stretch/>
        </p:blipFill>
        <p:spPr bwMode="auto">
          <a:xfrm>
            <a:off x="974295" y="2683716"/>
            <a:ext cx="2312919" cy="33119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그림 3" descr="EMB0000167063e8">
            <a:extLst>
              <a:ext uri="{FF2B5EF4-FFF2-40B4-BE49-F238E27FC236}">
                <a16:creationId xmlns:a16="http://schemas.microsoft.com/office/drawing/2014/main" xmlns="" id="{7185DC34-C31C-4C3C-8AB9-085ED69B578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1" t="51911" r="60844" b="21372"/>
          <a:stretch/>
        </p:blipFill>
        <p:spPr bwMode="auto">
          <a:xfrm>
            <a:off x="3388575" y="2683716"/>
            <a:ext cx="2312919" cy="321937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D32F0F92-43F9-49BA-AD00-B198BE97B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434051"/>
              </p:ext>
            </p:extLst>
          </p:nvPr>
        </p:nvGraphicFramePr>
        <p:xfrm>
          <a:off x="5814437" y="2847371"/>
          <a:ext cx="4858851" cy="26471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96852">
                  <a:extLst>
                    <a:ext uri="{9D8B030D-6E8A-4147-A177-3AD203B41FA5}">
                      <a16:colId xmlns:a16="http://schemas.microsoft.com/office/drawing/2014/main" xmlns="" val="1129118432"/>
                    </a:ext>
                  </a:extLst>
                </a:gridCol>
                <a:gridCol w="1093866">
                  <a:extLst>
                    <a:ext uri="{9D8B030D-6E8A-4147-A177-3AD203B41FA5}">
                      <a16:colId xmlns:a16="http://schemas.microsoft.com/office/drawing/2014/main" xmlns="" val="274745363"/>
                    </a:ext>
                  </a:extLst>
                </a:gridCol>
                <a:gridCol w="1094459">
                  <a:extLst>
                    <a:ext uri="{9D8B030D-6E8A-4147-A177-3AD203B41FA5}">
                      <a16:colId xmlns:a16="http://schemas.microsoft.com/office/drawing/2014/main" xmlns="" val="1841104916"/>
                    </a:ext>
                  </a:extLst>
                </a:gridCol>
                <a:gridCol w="1073674">
                  <a:extLst>
                    <a:ext uri="{9D8B030D-6E8A-4147-A177-3AD203B41FA5}">
                      <a16:colId xmlns:a16="http://schemas.microsoft.com/office/drawing/2014/main" xmlns="" val="3530180116"/>
                    </a:ext>
                  </a:extLst>
                </a:gridCol>
              </a:tblGrid>
              <a:tr h="542854">
                <a:tc>
                  <a:txBody>
                    <a:bodyPr/>
                    <a:lstStyle/>
                    <a:p>
                      <a:pPr algn="just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kern="100">
                          <a:effectLst/>
                        </a:rPr>
                        <a:t>18</a:t>
                      </a:r>
                      <a:r>
                        <a:rPr lang="ko-KR" sz="2000" b="1" kern="100">
                          <a:effectLst/>
                        </a:rPr>
                        <a:t>년</a:t>
                      </a:r>
                      <a:endParaRPr lang="ko-KR" sz="2000" b="1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kern="100">
                          <a:effectLst/>
                        </a:rPr>
                        <a:t>19</a:t>
                      </a:r>
                      <a:r>
                        <a:rPr lang="ko-KR" sz="2000" b="1" kern="100">
                          <a:effectLst/>
                        </a:rPr>
                        <a:t>년</a:t>
                      </a:r>
                      <a:endParaRPr lang="ko-KR" sz="2000" b="1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20</a:t>
                      </a:r>
                      <a:r>
                        <a:rPr lang="ko-KR" sz="2000" b="1" kern="100" dirty="0">
                          <a:effectLst/>
                        </a:rPr>
                        <a:t>년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90462713"/>
                  </a:ext>
                </a:extLst>
              </a:tr>
              <a:tr h="71627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2000" b="1" kern="100" dirty="0">
                          <a:effectLst/>
                        </a:rPr>
                        <a:t>이자이익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40.5</a:t>
                      </a:r>
                      <a:r>
                        <a:rPr lang="ko-KR" sz="2000" kern="100" dirty="0">
                          <a:effectLst/>
                        </a:rPr>
                        <a:t>조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40.7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41.2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03077222"/>
                  </a:ext>
                </a:extLst>
              </a:tr>
              <a:tr h="71277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NIM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1.67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1.56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1.41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00487626"/>
                  </a:ext>
                </a:extLst>
              </a:tr>
              <a:tr h="67529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2000" b="1" kern="100" dirty="0">
                          <a:effectLst/>
                        </a:rPr>
                        <a:t>비이자이익</a:t>
                      </a:r>
                      <a:endParaRPr lang="ko-KR" sz="2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5.6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6.6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7.3</a:t>
                      </a:r>
                      <a:endParaRPr lang="ko-KR" sz="2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40116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176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Analysis of Industry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경쟁사와 하나은행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265F2BA-023E-48B5-8547-FF5A501E191E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19AAFB-0514-46B5-9940-1209726A6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pic>
        <p:nvPicPr>
          <p:cNvPr id="12" name="_x296782384">
            <a:extLst>
              <a:ext uri="{FF2B5EF4-FFF2-40B4-BE49-F238E27FC236}">
                <a16:creationId xmlns:a16="http://schemas.microsoft.com/office/drawing/2014/main" xmlns="" id="{0DA7986D-2438-4BDE-B344-83B2279DA5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4" t="18733" r="41684" b="43382"/>
          <a:stretch>
            <a:fillRect/>
          </a:stretch>
        </p:blipFill>
        <p:spPr bwMode="auto">
          <a:xfrm>
            <a:off x="5961800" y="2434720"/>
            <a:ext cx="4674835" cy="2592279"/>
          </a:xfrm>
          <a:prstGeom prst="rect">
            <a:avLst/>
          </a:prstGeom>
          <a:noFill/>
        </p:spPr>
      </p:pic>
      <p:pic>
        <p:nvPicPr>
          <p:cNvPr id="13" name="_x296782096">
            <a:extLst>
              <a:ext uri="{FF2B5EF4-FFF2-40B4-BE49-F238E27FC236}">
                <a16:creationId xmlns:a16="http://schemas.microsoft.com/office/drawing/2014/main" xmlns="" id="{8093F6F6-EB16-461A-9B68-0519A5C5EFA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4" t="51599" r="43410" b="8762"/>
          <a:stretch>
            <a:fillRect/>
          </a:stretch>
        </p:blipFill>
        <p:spPr bwMode="auto">
          <a:xfrm>
            <a:off x="838199" y="2434720"/>
            <a:ext cx="4479526" cy="26765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9574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Analysis of Industry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경쟁사와 하나은행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265F2BA-023E-48B5-8547-FF5A501E191E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19AAFB-0514-46B5-9940-1209726A6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1EAB0D8-CFD2-4144-A61F-EB2C70E2B6E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51" y="2533927"/>
            <a:ext cx="2772410" cy="29606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129B864-AEF6-4A43-8005-2BC927217C4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471" y="2533926"/>
            <a:ext cx="2680760" cy="29606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97F15A1-86B8-4B43-ACCA-E65784FA865C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941" y="2533926"/>
            <a:ext cx="3810413" cy="296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48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Analysis of Corp.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개요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AAE0BAB-9BD2-4CF1-A287-2C5BA2AB5283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3B9272D-A3BD-4A85-9747-5395FCFA9D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pic>
        <p:nvPicPr>
          <p:cNvPr id="6" name="그림 5" descr="EMB0000167063e6">
            <a:extLst>
              <a:ext uri="{FF2B5EF4-FFF2-40B4-BE49-F238E27FC236}">
                <a16:creationId xmlns:a16="http://schemas.microsoft.com/office/drawing/2014/main" xmlns="" id="{DA5FF121-9A18-4654-BD14-4EDE82CD027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545" y="1690688"/>
            <a:ext cx="6594162" cy="47781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95088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Analysis of Corp.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개요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AAE0BAB-9BD2-4CF1-A287-2C5BA2AB5283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3B9272D-A3BD-4A85-9747-5395FCFA9D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graphicFrame>
        <p:nvGraphicFramePr>
          <p:cNvPr id="7" name="차트 4">
            <a:extLst>
              <a:ext uri="{FF2B5EF4-FFF2-40B4-BE49-F238E27FC236}">
                <a16:creationId xmlns:a16="http://schemas.microsoft.com/office/drawing/2014/main" xmlns="" id="{6EB0D7AB-3F68-4638-B0DA-521E66DFB4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568162"/>
              </p:ext>
            </p:extLst>
          </p:nvPr>
        </p:nvGraphicFramePr>
        <p:xfrm>
          <a:off x="1380774" y="2683716"/>
          <a:ext cx="46786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xmlns="" id="{E94C762A-7224-4864-BAAB-DB51034ABE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3218602"/>
              </p:ext>
            </p:extLst>
          </p:nvPr>
        </p:nvGraphicFramePr>
        <p:xfrm>
          <a:off x="6132548" y="2600947"/>
          <a:ext cx="4752975" cy="280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00967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Analysis of Corp.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경쟁사 실적 및 바젤</a:t>
            </a:r>
            <a:r>
              <a:rPr lang="en-US" altLang="ko-KR" dirty="0"/>
              <a:t>3 </a:t>
            </a:r>
            <a:r>
              <a:rPr lang="ko-KR" altLang="en-US" dirty="0"/>
              <a:t>신용 리스크 도입 결과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AAE0BAB-9BD2-4CF1-A287-2C5BA2AB5283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3B9272D-A3BD-4A85-9747-5395FCFA9D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graphicFrame>
        <p:nvGraphicFramePr>
          <p:cNvPr id="6" name="차트 17">
            <a:extLst>
              <a:ext uri="{FF2B5EF4-FFF2-40B4-BE49-F238E27FC236}">
                <a16:creationId xmlns:a16="http://schemas.microsoft.com/office/drawing/2014/main" xmlns="" id="{D26B30A1-B4A0-4903-B2E2-8DB60A77C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9479646"/>
              </p:ext>
            </p:extLst>
          </p:nvPr>
        </p:nvGraphicFramePr>
        <p:xfrm>
          <a:off x="2231791" y="2610037"/>
          <a:ext cx="6912209" cy="30088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51633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Analysis of Corp.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사회적 공헌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AAE0BAB-9BD2-4CF1-A287-2C5BA2AB5283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3B9272D-A3BD-4A85-9747-5395FCFA9D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pic>
        <p:nvPicPr>
          <p:cNvPr id="6" name="그림 6">
            <a:extLst>
              <a:ext uri="{FF2B5EF4-FFF2-40B4-BE49-F238E27FC236}">
                <a16:creationId xmlns:a16="http://schemas.microsoft.com/office/drawing/2014/main" xmlns="" id="{8761DE81-B96E-447E-BB9E-5240917EA2C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32" y="1758548"/>
            <a:ext cx="4559935" cy="435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0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Investment</a:t>
            </a:r>
            <a:r>
              <a:rPr lang="ko-KR" altLang="en-US" dirty="0">
                <a:latin typeface="hanam"/>
              </a:rPr>
              <a:t> </a:t>
            </a:r>
            <a:r>
              <a:rPr lang="en-US" altLang="ko-KR" dirty="0">
                <a:latin typeface="hanam"/>
              </a:rPr>
              <a:t>Point</a:t>
            </a:r>
            <a:endParaRPr lang="ko-KR" alt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E00977-FD8A-433C-B551-8676B470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4341849" y="329278"/>
            <a:ext cx="2958630" cy="684098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비대면 채널에 대한 경쟁력 보유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금융 상품 복합화에 대한 발 빠른 대응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기대되는 성장성</a:t>
            </a:r>
            <a:endParaRPr lang="en-US" altLang="ko-K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F18D198-AFE6-4EFC-8844-0DDB9B886486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0BB3674-40A1-4C35-BD76-D7E8C013D2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sp>
        <p:nvSpPr>
          <p:cNvPr id="7" name="Half Frame 6">
            <a:extLst>
              <a:ext uri="{FF2B5EF4-FFF2-40B4-BE49-F238E27FC236}">
                <a16:creationId xmlns:a16="http://schemas.microsoft.com/office/drawing/2014/main" xmlns="" id="{94AE9DE0-5ED2-46BF-B530-E7037511AF00}"/>
              </a:ext>
            </a:extLst>
          </p:cNvPr>
          <p:cNvSpPr/>
          <p:nvPr/>
        </p:nvSpPr>
        <p:spPr>
          <a:xfrm rot="13575538">
            <a:off x="1817524" y="2219863"/>
            <a:ext cx="269480" cy="516469"/>
          </a:xfrm>
          <a:prstGeom prst="halfFrame">
            <a:avLst>
              <a:gd name="adj1" fmla="val 11985"/>
              <a:gd name="adj2" fmla="val 13108"/>
            </a:avLst>
          </a:prstGeom>
          <a:solidFill>
            <a:srgbClr val="00848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xmlns="" id="{D9A0C654-6F68-41B2-8A43-DCA47BAA615B}"/>
              </a:ext>
            </a:extLst>
          </p:cNvPr>
          <p:cNvSpPr/>
          <p:nvPr/>
        </p:nvSpPr>
        <p:spPr>
          <a:xfrm rot="13575538">
            <a:off x="1872008" y="3215646"/>
            <a:ext cx="269480" cy="516469"/>
          </a:xfrm>
          <a:prstGeom prst="halfFrame">
            <a:avLst>
              <a:gd name="adj1" fmla="val 11985"/>
              <a:gd name="adj2" fmla="val 13108"/>
            </a:avLst>
          </a:prstGeom>
          <a:solidFill>
            <a:srgbClr val="00848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xmlns="" id="{B14F4C2C-4BB6-4DD0-979E-B39AD12091B2}"/>
              </a:ext>
            </a:extLst>
          </p:cNvPr>
          <p:cNvSpPr/>
          <p:nvPr/>
        </p:nvSpPr>
        <p:spPr>
          <a:xfrm rot="13575538">
            <a:off x="1891241" y="4273569"/>
            <a:ext cx="269480" cy="516469"/>
          </a:xfrm>
          <a:prstGeom prst="halfFrame">
            <a:avLst>
              <a:gd name="adj1" fmla="val 11985"/>
              <a:gd name="adj2" fmla="val 13108"/>
            </a:avLst>
          </a:prstGeom>
          <a:solidFill>
            <a:srgbClr val="00848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574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Investment</a:t>
            </a:r>
            <a:r>
              <a:rPr lang="ko-KR" altLang="en-US" dirty="0">
                <a:latin typeface="hanam"/>
              </a:rPr>
              <a:t> </a:t>
            </a:r>
            <a:r>
              <a:rPr lang="en-US" altLang="ko-KR" dirty="0">
                <a:latin typeface="hanam"/>
              </a:rPr>
              <a:t>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EF9AD14-6AE8-44E3-A94E-4931CF92C0B3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39F7BDD-BCE4-41C8-A3EC-CCA4C3AD66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sp>
        <p:nvSpPr>
          <p:cNvPr id="10" name="Vertical Text Placeholder 2">
            <a:extLst>
              <a:ext uri="{FF2B5EF4-FFF2-40B4-BE49-F238E27FC236}">
                <a16:creationId xmlns:a16="http://schemas.microsoft.com/office/drawing/2014/main" xmlns="" id="{81D0B9D5-3346-4B41-B489-2D427FD5C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인플레이션과 경기 부진 사이</a:t>
            </a:r>
            <a:r>
              <a:rPr lang="en-US" altLang="ko-KR" dirty="0"/>
              <a:t>, </a:t>
            </a:r>
            <a:r>
              <a:rPr lang="ko-KR" altLang="en-US" dirty="0"/>
              <a:t>금리 상승의 불확실성 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EA81BD5F-44C7-41F7-83A1-9F532881C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291366880">
            <a:extLst>
              <a:ext uri="{FF2B5EF4-FFF2-40B4-BE49-F238E27FC236}">
                <a16:creationId xmlns:a16="http://schemas.microsoft.com/office/drawing/2014/main" xmlns="" id="{E4C3C31D-0590-4686-B874-C30F57068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97127"/>
            <a:ext cx="4446588" cy="186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1E3D56B-D407-4BA4-BBDF-A4E8EA43C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6" name="_x291366952">
            <a:extLst>
              <a:ext uri="{FF2B5EF4-FFF2-40B4-BE49-F238E27FC236}">
                <a16:creationId xmlns:a16="http://schemas.microsoft.com/office/drawing/2014/main" xmlns="" id="{5ADC8AF3-2375-45B6-8B9C-C1B04EE97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4302848"/>
            <a:ext cx="4460875" cy="197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34006AE-D0E0-42C0-9BFC-627BA594D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91368032">
            <a:extLst>
              <a:ext uri="{FF2B5EF4-FFF2-40B4-BE49-F238E27FC236}">
                <a16:creationId xmlns:a16="http://schemas.microsoft.com/office/drawing/2014/main" xmlns="" id="{072858A5-08FD-4B9D-854F-303A23529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550" y="3342972"/>
            <a:ext cx="4767262" cy="197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740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Investment</a:t>
            </a:r>
            <a:r>
              <a:rPr lang="ko-KR" altLang="en-US" dirty="0">
                <a:latin typeface="hanam"/>
              </a:rPr>
              <a:t> </a:t>
            </a:r>
            <a:r>
              <a:rPr lang="en-US" altLang="ko-KR" dirty="0">
                <a:latin typeface="hanam"/>
              </a:rPr>
              <a:t>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EF9AD14-6AE8-44E3-A94E-4931CF92C0B3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39F7BDD-BCE4-41C8-A3EC-CCA4C3AD66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sp>
        <p:nvSpPr>
          <p:cNvPr id="10" name="Vertical Text Placeholder 2">
            <a:extLst>
              <a:ext uri="{FF2B5EF4-FFF2-40B4-BE49-F238E27FC236}">
                <a16:creationId xmlns:a16="http://schemas.microsoft.com/office/drawing/2014/main" xmlns="" id="{81D0B9D5-3346-4B41-B489-2D427FD5C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933447" y="-1237062"/>
            <a:ext cx="4252019" cy="10442511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COVID 19</a:t>
            </a:r>
            <a:endParaRPr lang="ko-KR" altLang="en-US" dirty="0"/>
          </a:p>
        </p:txBody>
      </p:sp>
      <p:pic>
        <p:nvPicPr>
          <p:cNvPr id="6" name="그림 8">
            <a:extLst>
              <a:ext uri="{FF2B5EF4-FFF2-40B4-BE49-F238E27FC236}">
                <a16:creationId xmlns:a16="http://schemas.microsoft.com/office/drawing/2014/main" xmlns="" id="{D0888F72-A7AD-4B43-A1C4-F9EE8F1BB2BF}"/>
              </a:ext>
            </a:extLst>
          </p:cNvPr>
          <p:cNvPicPr/>
          <p:nvPr/>
        </p:nvPicPr>
        <p:blipFill rotWithShape="1">
          <a:blip r:embed="rId3"/>
          <a:srcRect t="11284"/>
          <a:stretch/>
        </p:blipFill>
        <p:spPr bwMode="auto">
          <a:xfrm>
            <a:off x="838199" y="2683716"/>
            <a:ext cx="5049520" cy="26447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그림 14">
            <a:extLst>
              <a:ext uri="{FF2B5EF4-FFF2-40B4-BE49-F238E27FC236}">
                <a16:creationId xmlns:a16="http://schemas.microsoft.com/office/drawing/2014/main" xmlns="" id="{181404B2-20AA-4D27-8F61-B79628B8225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59455" y="2396900"/>
            <a:ext cx="4133416" cy="351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4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1C2E7D0-FC62-471B-AD12-CBBCCF4F727E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452B056-65D9-4F78-BBFC-3CBC464C1E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graphicFrame>
        <p:nvGraphicFramePr>
          <p:cNvPr id="6" name="차트 19">
            <a:extLst>
              <a:ext uri="{FF2B5EF4-FFF2-40B4-BE49-F238E27FC236}">
                <a16:creationId xmlns:a16="http://schemas.microsoft.com/office/drawing/2014/main" xmlns="" id="{AFF2C8D6-4D97-4142-B5E5-4004ACDE0E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4813221"/>
              </p:ext>
            </p:extLst>
          </p:nvPr>
        </p:nvGraphicFramePr>
        <p:xfrm>
          <a:off x="2675965" y="1690688"/>
          <a:ext cx="5961973" cy="2857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화살표: 오른쪽 21">
            <a:extLst>
              <a:ext uri="{FF2B5EF4-FFF2-40B4-BE49-F238E27FC236}">
                <a16:creationId xmlns:a16="http://schemas.microsoft.com/office/drawing/2014/main" xmlns="" id="{7B1516B6-F9F2-40E5-8E98-8995945F4F0B}"/>
              </a:ext>
            </a:extLst>
          </p:cNvPr>
          <p:cNvSpPr/>
          <p:nvPr/>
        </p:nvSpPr>
        <p:spPr>
          <a:xfrm rot="20884178">
            <a:off x="3839287" y="2632012"/>
            <a:ext cx="3853180" cy="974725"/>
          </a:xfrm>
          <a:prstGeom prst="rightArrow">
            <a:avLst>
              <a:gd name="adj1" fmla="val 39320"/>
              <a:gd name="adj2" fmla="val 525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107000"/>
              </a:lnSpc>
              <a:spcAft>
                <a:spcPts val="800"/>
              </a:spcAft>
            </a:pPr>
            <a:r>
              <a:rPr lang="en-US" sz="1600" b="1" kern="10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5</a:t>
            </a:r>
            <a:r>
              <a:rPr lang="ko-KR" sz="1600" b="1" kern="10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년 간</a:t>
            </a:r>
            <a:r>
              <a:rPr lang="en-US" sz="1600" b="1" kern="10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42% </a:t>
            </a:r>
            <a:r>
              <a:rPr lang="ko-KR" sz="1600" b="1" kern="10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증가</a:t>
            </a:r>
            <a:r>
              <a:rPr lang="en-US" sz="1600" b="1" kern="10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!!!</a:t>
            </a:r>
            <a:endParaRPr lang="ko-KR" sz="1000" kern="10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F50E47C8-EA9D-42D1-9C44-14481F13F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001382"/>
              </p:ext>
            </p:extLst>
          </p:nvPr>
        </p:nvGraphicFramePr>
        <p:xfrm>
          <a:off x="2624163" y="4782486"/>
          <a:ext cx="6545905" cy="10199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13857">
                  <a:extLst>
                    <a:ext uri="{9D8B030D-6E8A-4147-A177-3AD203B41FA5}">
                      <a16:colId xmlns:a16="http://schemas.microsoft.com/office/drawing/2014/main" xmlns="" val="3966667194"/>
                    </a:ext>
                  </a:extLst>
                </a:gridCol>
                <a:gridCol w="748382">
                  <a:extLst>
                    <a:ext uri="{9D8B030D-6E8A-4147-A177-3AD203B41FA5}">
                      <a16:colId xmlns:a16="http://schemas.microsoft.com/office/drawing/2014/main" xmlns="" val="835195539"/>
                    </a:ext>
                  </a:extLst>
                </a:gridCol>
                <a:gridCol w="858479">
                  <a:extLst>
                    <a:ext uri="{9D8B030D-6E8A-4147-A177-3AD203B41FA5}">
                      <a16:colId xmlns:a16="http://schemas.microsoft.com/office/drawing/2014/main" xmlns="" val="2105438149"/>
                    </a:ext>
                  </a:extLst>
                </a:gridCol>
                <a:gridCol w="858479">
                  <a:extLst>
                    <a:ext uri="{9D8B030D-6E8A-4147-A177-3AD203B41FA5}">
                      <a16:colId xmlns:a16="http://schemas.microsoft.com/office/drawing/2014/main" xmlns="" val="3448240560"/>
                    </a:ext>
                  </a:extLst>
                </a:gridCol>
                <a:gridCol w="858479">
                  <a:extLst>
                    <a:ext uri="{9D8B030D-6E8A-4147-A177-3AD203B41FA5}">
                      <a16:colId xmlns:a16="http://schemas.microsoft.com/office/drawing/2014/main" xmlns="" val="3700479637"/>
                    </a:ext>
                  </a:extLst>
                </a:gridCol>
                <a:gridCol w="949763">
                  <a:extLst>
                    <a:ext uri="{9D8B030D-6E8A-4147-A177-3AD203B41FA5}">
                      <a16:colId xmlns:a16="http://schemas.microsoft.com/office/drawing/2014/main" xmlns="" val="3454124349"/>
                    </a:ext>
                  </a:extLst>
                </a:gridCol>
                <a:gridCol w="1058466">
                  <a:extLst>
                    <a:ext uri="{9D8B030D-6E8A-4147-A177-3AD203B41FA5}">
                      <a16:colId xmlns:a16="http://schemas.microsoft.com/office/drawing/2014/main" xmlns="" val="2874645428"/>
                    </a:ext>
                  </a:extLst>
                </a:gridCol>
              </a:tblGrid>
              <a:tr h="342031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 dirty="0">
                          <a:effectLst/>
                        </a:rPr>
                        <a:t>2016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 dirty="0">
                          <a:effectLst/>
                        </a:rPr>
                        <a:t>2017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 dirty="0">
                          <a:effectLst/>
                        </a:rPr>
                        <a:t>2018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 dirty="0">
                          <a:effectLst/>
                        </a:rPr>
                        <a:t>2019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 dirty="0">
                          <a:effectLst/>
                        </a:rPr>
                        <a:t>2020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 dirty="0">
                          <a:effectLst/>
                        </a:rPr>
                        <a:t>2021(</a:t>
                      </a:r>
                      <a:r>
                        <a:rPr lang="ko-KR" sz="1000" b="1" kern="100" dirty="0">
                          <a:effectLst/>
                        </a:rPr>
                        <a:t>추정</a:t>
                      </a:r>
                      <a:r>
                        <a:rPr lang="en-US" sz="1000" b="1" kern="100" dirty="0">
                          <a:effectLst/>
                        </a:rPr>
                        <a:t>)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30722648"/>
                  </a:ext>
                </a:extLst>
              </a:tr>
              <a:tr h="335838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1000" b="1" kern="100" dirty="0">
                          <a:effectLst/>
                        </a:rPr>
                        <a:t>당기순이익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13,997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21,166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22,752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24,256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26,849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30,280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2980735"/>
                  </a:ext>
                </a:extLst>
              </a:tr>
              <a:tr h="342031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ko-KR" sz="1000" b="1" kern="100" dirty="0">
                          <a:effectLst/>
                        </a:rPr>
                        <a:t>자본총계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233,900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248,279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spc="-25">
                          <a:effectLst/>
                        </a:rPr>
                        <a:t>271,085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spc="-25">
                          <a:effectLst/>
                        </a:rPr>
                        <a:t>289,848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spc="-25">
                          <a:effectLst/>
                        </a:rPr>
                        <a:t>316,003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spc="-25" dirty="0">
                          <a:effectLst/>
                        </a:rPr>
                        <a:t>338,317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30685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792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2FD3A-B232-4C30-AFB8-BD434EEF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anam"/>
              </a:rPr>
              <a:t>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1C2E7D0-FC62-471B-AD12-CBBCCF4F727E}"/>
              </a:ext>
            </a:extLst>
          </p:cNvPr>
          <p:cNvSpPr/>
          <p:nvPr/>
        </p:nvSpPr>
        <p:spPr>
          <a:xfrm>
            <a:off x="838199" y="1358153"/>
            <a:ext cx="10442513" cy="45719"/>
          </a:xfrm>
          <a:prstGeom prst="rect">
            <a:avLst/>
          </a:prstGeom>
          <a:solidFill>
            <a:srgbClr val="008485"/>
          </a:solidFill>
          <a:ln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452B056-65D9-4F78-BBFC-3CBC464C1E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4" t="30392" r="67904" b="54902"/>
          <a:stretch/>
        </p:blipFill>
        <p:spPr>
          <a:xfrm>
            <a:off x="10673288" y="5494570"/>
            <a:ext cx="607424" cy="615633"/>
          </a:xfrm>
          <a:prstGeom prst="rect">
            <a:avLst/>
          </a:prstGeom>
        </p:spPr>
      </p:pic>
      <p:sp>
        <p:nvSpPr>
          <p:cNvPr id="11" name="Vertical Text Placeholder 2">
            <a:extLst>
              <a:ext uri="{FF2B5EF4-FFF2-40B4-BE49-F238E27FC236}">
                <a16:creationId xmlns:a16="http://schemas.microsoft.com/office/drawing/2014/main" xmlns="" id="{224F961B-5F5D-4FAD-B80F-7257630D5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5793698" y="1017295"/>
            <a:ext cx="755133" cy="3695327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3200" b="1" dirty="0"/>
              <a:t>목표주가 </a:t>
            </a:r>
            <a:r>
              <a:rPr lang="en-US" altLang="ko-KR" sz="3200" b="1" dirty="0"/>
              <a:t>55,972</a:t>
            </a:r>
            <a:r>
              <a:rPr lang="ko-KR" altLang="en-US" sz="3200" b="1" dirty="0"/>
              <a:t>원</a:t>
            </a:r>
            <a:endParaRPr lang="en-US" altLang="ko-KR" sz="3200" b="1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xmlns="" id="{E3E195D6-3997-4944-8BDA-B5E53329727D}"/>
              </a:ext>
            </a:extLst>
          </p:cNvPr>
          <p:cNvSpPr txBox="1">
            <a:spLocks/>
          </p:cNvSpPr>
          <p:nvPr/>
        </p:nvSpPr>
        <p:spPr>
          <a:xfrm rot="16200000" flipH="1">
            <a:off x="6635244" y="2737585"/>
            <a:ext cx="427366" cy="2603288"/>
          </a:xfrm>
          <a:prstGeom prst="rect">
            <a:avLst/>
          </a:prstGeom>
        </p:spPr>
        <p:txBody>
          <a:bodyPr vert="eaVert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600" b="1" dirty="0">
                <a:solidFill>
                  <a:srgbClr val="FF0000"/>
                </a:solidFill>
              </a:rPr>
              <a:t>BUY</a:t>
            </a:r>
          </a:p>
        </p:txBody>
      </p:sp>
    </p:spTree>
    <p:extLst>
      <p:ext uri="{BB962C8B-B14F-4D97-AF65-F5344CB8AC3E}">
        <p14:creationId xmlns:p14="http://schemas.microsoft.com/office/powerpoint/2010/main" val="3954398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33C7F87-B737-426F-9366-692FAD2D7890}"/>
              </a:ext>
            </a:extLst>
          </p:cNvPr>
          <p:cNvSpPr/>
          <p:nvPr/>
        </p:nvSpPr>
        <p:spPr>
          <a:xfrm>
            <a:off x="457200" y="443753"/>
            <a:ext cx="11174506" cy="5903260"/>
          </a:xfrm>
          <a:prstGeom prst="rect">
            <a:avLst/>
          </a:prstGeom>
          <a:noFill/>
          <a:ln w="38100">
            <a:solidFill>
              <a:srgbClr val="008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4691BB-95B4-4D2B-9F8D-BDDE466B8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568388"/>
            <a:ext cx="11174506" cy="1801906"/>
          </a:xfrm>
          <a:solidFill>
            <a:srgbClr val="3D998A">
              <a:alpha val="50196"/>
            </a:srgbClr>
          </a:solidFill>
        </p:spPr>
        <p:txBody>
          <a:bodyPr>
            <a:normAutofit/>
          </a:bodyPr>
          <a:lstStyle/>
          <a:p>
            <a:r>
              <a:rPr lang="en-US" altLang="ko-KR" dirty="0">
                <a:latin typeface="hanam"/>
              </a:rPr>
              <a:t>Thank you for listening</a:t>
            </a:r>
            <a:r>
              <a:rPr lang="en-US" altLang="ko-KR" sz="2400" dirty="0">
                <a:latin typeface="hanam"/>
              </a:rPr>
              <a:t/>
            </a:r>
            <a:br>
              <a:rPr lang="en-US" altLang="ko-KR" sz="2400" dirty="0">
                <a:latin typeface="hanam"/>
              </a:rPr>
            </a:br>
            <a:endParaRPr lang="ko-KR" altLang="en-US" sz="2400" dirty="0">
              <a:latin typeface="hanam"/>
            </a:endParaRPr>
          </a:p>
        </p:txBody>
      </p:sp>
    </p:spTree>
    <p:extLst>
      <p:ext uri="{BB962C8B-B14F-4D97-AF65-F5344CB8AC3E}">
        <p14:creationId xmlns:p14="http://schemas.microsoft.com/office/powerpoint/2010/main" val="831410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맑은 고딕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맑은 고딕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맑은 고딕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맑은 고딕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맑은 고딕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맑은 고딕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392</Words>
  <Application>Microsoft Office PowerPoint</Application>
  <PresentationFormat>사용자 지정</PresentationFormat>
  <Paragraphs>168</Paragraphs>
  <Slides>19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하나금융그룹</vt:lpstr>
      <vt:lpstr>Contents</vt:lpstr>
      <vt:lpstr>Investment Idea</vt:lpstr>
      <vt:lpstr>Analysis of Industry</vt:lpstr>
      <vt:lpstr>Analysis of Industry</vt:lpstr>
      <vt:lpstr>Analysis of Industry</vt:lpstr>
      <vt:lpstr>Analysis of Industry</vt:lpstr>
      <vt:lpstr>Analysis of Industry</vt:lpstr>
      <vt:lpstr>Analysis of Industry</vt:lpstr>
      <vt:lpstr>Analysis of Corp.</vt:lpstr>
      <vt:lpstr>Analysis of Corp.</vt:lpstr>
      <vt:lpstr>Analysis of Corp.</vt:lpstr>
      <vt:lpstr>Analysis of Corp.</vt:lpstr>
      <vt:lpstr>Investment Point</vt:lpstr>
      <vt:lpstr>Investment Risk</vt:lpstr>
      <vt:lpstr>Investment Risk</vt:lpstr>
      <vt:lpstr>Valuation</vt:lpstr>
      <vt:lpstr>Valuation</vt:lpstr>
      <vt:lpstr>Thank you for listening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하나금융그룹</dc:title>
  <dc:creator>pig64</dc:creator>
  <cp:lastModifiedBy>Windows User</cp:lastModifiedBy>
  <cp:revision>27</cp:revision>
  <dcterms:created xsi:type="dcterms:W3CDTF">2021-05-22T05:09:29Z</dcterms:created>
  <dcterms:modified xsi:type="dcterms:W3CDTF">2021-06-03T09:07:03Z</dcterms:modified>
</cp:coreProperties>
</file>